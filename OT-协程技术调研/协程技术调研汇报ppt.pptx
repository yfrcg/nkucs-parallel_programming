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37147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OT / COROUTINE RESEARCH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285875"/>
            <a:ext cx="6343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4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4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协程把等待从线程中释放</a:t>
            </a:r>
            <a:endParaRPr sz="44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895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核心判断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3238500"/>
            <a:ext cx="56959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协程不会让一个 CPU 核算得更快；</a:t>
            </a:r>
            <a:endParaRPr sz="18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它让大量 I/O 等待不再长期占用内核线程。</a:t>
            </a:r>
            <a:endParaRPr sz="18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33400" y="6591300"/>
            <a:ext cx="1000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来源：协程技术调研报告（实验表 4）；实验环境与限制见第 05/07 页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t="10704" b="10704"/>
          <a:stretch>
            <a:fillRect/>
          </a:stretch>
        </p:blipFill>
        <p:spPr>
          <a:xfrm>
            <a:off x="7239000" y="685800"/>
            <a:ext cx="4419600" cy="5210175"/>
          </a:xfrm>
          <a:prstGeom prst="rect">
            <a:avLst/>
          </a:prstGeom>
        </p:spPr>
      </p:pic>
      <p:sp>
        <p:nvSpPr>
          <p:cNvPr id="35" name="cover-caption-panel"/>
          <p:cNvSpPr>
            <a:spLocks noGrp="1"/>
          </p:cNvSpPr>
          <p:nvPr/>
        </p:nvSpPr>
        <p:spPr>
          <a:xfrm>
            <a:off x="7239000" y="5162550"/>
            <a:ext cx="4419600" cy="7334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496175" y="5324475"/>
            <a:ext cx="2019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SUSPEND  /  RESUME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496175" y="5591175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等待释放线程，事件到达后继续</a:t>
            </a:r>
            <a:endParaRPr sz="10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REPORT ROUTE / FIVE QUESTIONS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按题目顺序，回答五个核心问题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来源：课程题目要求；后续内容依序对应问题 1-5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2371725"/>
            <a:ext cx="108585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186690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15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00175" y="1819275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为何演进到协程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14900" y="187642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并发负载变化与线程/回调的代价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3190875"/>
            <a:ext cx="108585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26860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15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00175" y="2638425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协程是什么、怎么用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14900" y="269557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机制分类 + 应用范式与适用边界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4010025"/>
            <a:ext cx="108585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0550" y="350520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15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00175" y="3457575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语言如何支持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14900" y="351472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/ Python / Java / C++ / C# 对比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1500" y="4829175"/>
            <a:ext cx="108585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4324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15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00175" y="4276725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实验能证明什么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14900" y="433387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I/O 等待微基准与多线程对照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1500" y="5648325"/>
            <a:ext cx="108585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90550" y="514350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05</a:t>
            </a:r>
            <a:endParaRPr sz="15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00175" y="5095875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底层如何协同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914900" y="515302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编译器、运行时、操作系统闭环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1 / 演进原因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7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等待成本被放大后，并发模型走向“可挂起”的用户态任务</a:t>
            </a:r>
            <a:endParaRPr sz="27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来源：报告第 2 节；进程、线程、事件回调到协程的演进归纳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752725"/>
            <a:ext cx="990600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647950"/>
            <a:ext cx="209550" cy="209550"/>
          </a:xfrm>
          <a:prstGeom prst="rect">
            <a:avLst/>
          </a:prstGeom>
          <a:solidFill>
            <a:srgbClr val="A7B6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22479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900" b="1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305752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进程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0550" y="3648075"/>
            <a:ext cx="9715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36766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强隔离</a:t>
            </a:r>
            <a:endParaRPr sz="825" b="1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0550" y="4133850"/>
            <a:ext cx="2209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IPC 与切换成本高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2647950"/>
            <a:ext cx="209550" cy="20955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52800" y="22479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900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52800" y="305752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线程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52800" y="3648075"/>
            <a:ext cx="9715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429000" y="36766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共享内存</a:t>
            </a:r>
            <a:endParaRPr sz="825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52800" y="4133850"/>
            <a:ext cx="2209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大量等待导致栈与调度压力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647950"/>
            <a:ext cx="209550" cy="20955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115050" y="22479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9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15050" y="305752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事件/回调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15050" y="3648075"/>
            <a:ext cx="9715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191250" y="36766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少量线程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15050" y="4133850"/>
            <a:ext cx="2209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流程碎片化、错误传播复杂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48750" y="2647950"/>
            <a:ext cx="209550" cy="2095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77300" y="22479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877300" y="305752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 / await</a:t>
            </a:r>
            <a:endParaRPr sz="18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77300" y="3648075"/>
            <a:ext cx="9715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953500" y="36766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用户态任务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77300" y="4133850"/>
            <a:ext cx="2209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顺序表达 + 等待让出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4" name="takeaway-panel"/>
          <p:cNvSpPr>
            <a:spLocks noGrp="1"/>
          </p:cNvSpPr>
          <p:nvPr/>
        </p:nvSpPr>
        <p:spPr>
          <a:xfrm>
            <a:off x="590550" y="5219700"/>
            <a:ext cx="11049000" cy="70485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9150" y="54292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判断标准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038350" y="5381625"/>
            <a:ext cx="893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7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7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当任务的大部分时间花在等待外部事件，轻量挂起比堆叠内核线程更划算。</a:t>
            </a:r>
            <a:endParaRPr sz="17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57200" y="1371600"/>
            <a:ext cx="11277600" cy="4953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0550" y="1466850"/>
            <a:ext cx="3905250" cy="800100"/>
          </a:xfrm>
          <a:prstGeom prst="rect">
            <a:avLst/>
          </a:prstGeom>
          <a:solidFill>
            <a:srgbClr val="0F1E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19150" y="16573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核心矛盾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809750" y="15811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并发任务越来越多，但大多数时间不是在计算，而是在等 I/O、锁或外部服务。</a:t>
            </a:r>
            <a:endParaRPr sz="13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9150" y="2095500"/>
            <a:ext cx="32194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895850" y="1466850"/>
            <a:ext cx="1828800" cy="800100"/>
          </a:xfrm>
          <a:prstGeom prst="rect">
            <a:avLst/>
          </a:prstGeom>
          <a:solidFill>
            <a:srgbClr val="0F1E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086350" y="16573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等待占比</a:t>
            </a:r>
            <a:endParaRPr sz="975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086350" y="18669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上升</a:t>
            </a:r>
            <a:endParaRPr sz="18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115050" y="1609725"/>
            <a:ext cx="3619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048500" y="1466850"/>
            <a:ext cx="1828800" cy="800100"/>
          </a:xfrm>
          <a:prstGeom prst="rect">
            <a:avLst/>
          </a:prstGeom>
          <a:solidFill>
            <a:srgbClr val="0F1E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239000" y="16573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线程成本</a:t>
            </a:r>
            <a:endParaRPr sz="975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39000" y="18669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放大</a:t>
            </a:r>
            <a:endParaRPr sz="187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267700" y="1609725"/>
            <a:ext cx="361950" cy="2857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201150" y="1466850"/>
            <a:ext cx="1828800" cy="800100"/>
          </a:xfrm>
          <a:prstGeom prst="rect">
            <a:avLst/>
          </a:prstGeom>
          <a:solidFill>
            <a:srgbClr val="0F1E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391650" y="16573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回调复杂度</a:t>
            </a:r>
            <a:endParaRPr sz="975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391650" y="18669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75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75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累积</a:t>
            </a:r>
            <a:endParaRPr sz="1875" b="1">
              <a:solidFill>
                <a:srgbClr val="F0716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420350" y="1609725"/>
            <a:ext cx="361950" cy="28575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90550" y="2628900"/>
            <a:ext cx="2457450" cy="2266950"/>
          </a:xfrm>
          <a:prstGeom prst="rect">
            <a:avLst/>
          </a:prstGeom>
          <a:solidFill>
            <a:srgbClr val="0D19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90550" y="2628900"/>
            <a:ext cx="2457450" cy="38100"/>
          </a:xfrm>
          <a:prstGeom prst="rect">
            <a:avLst/>
          </a:prstGeom>
          <a:solidFill>
            <a:srgbClr val="A9BA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00100" y="28384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A9BAB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A9BAB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1050" b="1">
              <a:solidFill>
                <a:srgbClr val="A9BAB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238250" y="2790825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进程</a:t>
            </a:r>
            <a:endParaRPr sz="18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00100" y="3238500"/>
            <a:ext cx="1066800" cy="228600"/>
          </a:xfrm>
          <a:prstGeom prst="rect">
            <a:avLst/>
          </a:prstGeom>
          <a:solidFill>
            <a:srgbClr val="0C20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95350" y="327660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A9BAB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825" b="1">
                <a:solidFill>
                  <a:srgbClr val="A9BAB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强隔离</a:t>
            </a:r>
            <a:endParaRPr sz="825" b="1">
              <a:solidFill>
                <a:srgbClr val="A9BAB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00100" y="3619500"/>
            <a:ext cx="2038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00100" y="3810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主要代价</a:t>
            </a:r>
            <a:endParaRPr sz="900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00100" y="40386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IPC 与切换成本高，无法承载海量等待。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00100" y="458152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A9BAB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A9BAB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下一步</a:t>
            </a:r>
            <a:endParaRPr sz="900" b="1">
              <a:solidFill>
                <a:srgbClr val="A9BAB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428750" y="4524375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先把并发粒度压小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3048000" y="3752850"/>
            <a:ext cx="295275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267075" y="3705225"/>
            <a:ext cx="95250" cy="9525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3343275" y="2628900"/>
            <a:ext cx="2457450" cy="22669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3343275" y="2628900"/>
            <a:ext cx="2457450" cy="3810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3552825" y="28384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1050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3990975" y="2790825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线程</a:t>
            </a:r>
            <a:endParaRPr sz="18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3552825" y="3238500"/>
            <a:ext cx="1066800" cy="228600"/>
          </a:xfrm>
          <a:prstGeom prst="rect">
            <a:avLst/>
          </a:prstGeom>
          <a:solidFill>
            <a:srgbClr val="0C20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3648075" y="327660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825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共享内存</a:t>
            </a:r>
            <a:endParaRPr sz="825" b="1">
              <a:solidFill>
                <a:srgbClr val="F0716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3552825" y="3619500"/>
            <a:ext cx="2038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552825" y="3810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主要代价</a:t>
            </a:r>
            <a:endParaRPr sz="900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3552825" y="40386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大量等待会转化为调度、栈与同步压力。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3552825" y="458152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下一步</a:t>
            </a:r>
            <a:endParaRPr sz="900" b="1">
              <a:solidFill>
                <a:srgbClr val="F0716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181475" y="4524375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复用线程，减少阻塞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5800725" y="3752850"/>
            <a:ext cx="295275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6019800" y="3705225"/>
            <a:ext cx="95250" cy="9525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6096000" y="2628900"/>
            <a:ext cx="2457450" cy="22669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096000" y="2628900"/>
            <a:ext cx="2457450" cy="381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305550" y="28384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105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743700" y="2790825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事件/回调</a:t>
            </a:r>
            <a:endParaRPr sz="18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305550" y="3238500"/>
            <a:ext cx="1066800" cy="228600"/>
          </a:xfrm>
          <a:prstGeom prst="rect">
            <a:avLst/>
          </a:prstGeom>
          <a:solidFill>
            <a:srgbClr val="0C20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6400800" y="327660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82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少量线程</a:t>
            </a:r>
            <a:endParaRPr sz="82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305550" y="3619500"/>
            <a:ext cx="2038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305550" y="3810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主要代价</a:t>
            </a:r>
            <a:endParaRPr sz="900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305550" y="40386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流程被拆碎，错误传播和状态管理变复杂。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305550" y="458152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下一步</a:t>
            </a:r>
            <a:endParaRPr sz="900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934200" y="4524375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保留顺序表达能力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8553450" y="3752850"/>
            <a:ext cx="295275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8772525" y="3705225"/>
            <a:ext cx="95250" cy="952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8848725" y="2628900"/>
            <a:ext cx="2457450" cy="2266950"/>
          </a:xfrm>
          <a:prstGeom prst="rect">
            <a:avLst/>
          </a:prstGeom>
          <a:solidFill>
            <a:srgbClr val="122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8848725" y="2628900"/>
            <a:ext cx="2457450" cy="381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9058275" y="28384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105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496425" y="2790825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 / await</a:t>
            </a:r>
            <a:endParaRPr sz="18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9058275" y="3238500"/>
            <a:ext cx="1066800" cy="228600"/>
          </a:xfrm>
          <a:prstGeom prst="rect">
            <a:avLst/>
          </a:prstGeom>
          <a:solidFill>
            <a:srgbClr val="0C20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9153525" y="327660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82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用户态任务</a:t>
            </a:r>
            <a:endParaRPr sz="82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9058275" y="3619500"/>
            <a:ext cx="2038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9058275" y="3810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主要代价</a:t>
            </a:r>
            <a:endParaRPr sz="900" b="1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8275" y="40386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等待时让出执行权，就绪后从挂起点恢复。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9058275" y="458152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下一步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9686925" y="4524375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把“等”移出内核线程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8848725" y="2628900"/>
            <a:ext cx="2457450" cy="190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8848725" y="4876800"/>
            <a:ext cx="2457450" cy="190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8848725" y="2628900"/>
            <a:ext cx="19050" cy="22669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11287125" y="2628900"/>
            <a:ext cx="19050" cy="22669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590550" y="5219700"/>
            <a:ext cx="11049000" cy="723900"/>
          </a:xfrm>
          <a:prstGeom prst="rect">
            <a:avLst/>
          </a:prstGeom>
          <a:solidFill>
            <a:srgbClr val="1329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590550" y="5219700"/>
            <a:ext cx="1352550" cy="723900"/>
          </a:xfrm>
          <a:prstGeom prst="rect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819150" y="54578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判断标准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2171700" y="5343525"/>
            <a:ext cx="6991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多数任务都在等待外部事件时，轻量挂起比堆叠内核线程更划算。</a:t>
            </a:r>
            <a:endParaRPr sz="15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2171700" y="5705475"/>
            <a:ext cx="6115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CPU 密集型仍应回到线程、进程、SIMD 或 GPU 等真实并行资源。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9372600" y="5476875"/>
            <a:ext cx="186690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9448800" y="55054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WAITING -&gt; SUSPEND -&gt; RESUME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kicker-marker"/>
          <p:cNvSpPr>
            <a:spLocks noGrp="1"/>
          </p:cNvSpPr>
          <p:nvPr/>
        </p:nvSpPr>
        <p:spPr>
          <a:xfrm>
            <a:off x="533400" y="45720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35242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2 / 协程介绍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visual-claim"/>
          <p:cNvSpPr>
            <a:spLocks noGrp="1"/>
          </p:cNvSpPr>
          <p:nvPr/>
        </p:nvSpPr>
        <p:spPr>
          <a:xfrm>
            <a:off x="533400" y="1943100"/>
            <a:ext cx="5286375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协程是可挂起、</a:t>
            </a:r>
            <a:endParaRPr sz="38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可恢复的</a:t>
            </a:r>
            <a:endParaRPr sz="38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用户态任务。</a:t>
            </a:r>
            <a:endParaRPr sz="38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visual-rule"/>
          <p:cNvSpPr>
            <a:spLocks noGrp="1"/>
          </p:cNvSpPr>
          <p:nvPr/>
        </p:nvSpPr>
        <p:spPr>
          <a:xfrm>
            <a:off x="533400" y="4210050"/>
            <a:ext cx="45720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visual-support"/>
          <p:cNvSpPr>
            <a:spLocks noGrp="1"/>
          </p:cNvSpPr>
          <p:nvPr/>
        </p:nvSpPr>
        <p:spPr>
          <a:xfrm>
            <a:off x="533400" y="4476750"/>
            <a:ext cx="495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0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25" b="0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等待时让出执行权  -&gt;  事件就绪后从挂起点继续</a:t>
            </a:r>
            <a:endParaRPr sz="1425" b="0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visual-source"/>
          <p:cNvSpPr>
            <a:spLocks noGrp="1"/>
          </p:cNvSpPr>
          <p:nvPr/>
        </p:nvSpPr>
        <p:spPr>
          <a:xfrm>
            <a:off x="533400" y="6572250"/>
            <a:ext cx="7143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概念视觉：AI 生成，仅用于说明叙事；事实依据见相邻技术页。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visual-marker"/>
          <p:cNvSpPr>
            <a:spLocks noGrp="1"/>
          </p:cNvSpPr>
          <p:nvPr/>
        </p:nvSpPr>
        <p:spPr>
          <a:xfrm>
            <a:off x="10772775" y="6524625"/>
            <a:ext cx="885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2 / 技术分析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保存执行现场的两条路线：独立栈，或编译器状态机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来源：报告第 3 节；C++20 / Python / C# async 属于状态机路线，Go 更接近轻量线程路线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05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38300"/>
            <a:ext cx="508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同一个目标：暂停后能从正确位置恢复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stackful-panel"/>
          <p:cNvSpPr>
            <a:spLocks noGrp="1"/>
          </p:cNvSpPr>
          <p:nvPr/>
        </p:nvSpPr>
        <p:spPr>
          <a:xfrm>
            <a:off x="571500" y="2143125"/>
            <a:ext cx="5124450" cy="28289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409825"/>
            <a:ext cx="103822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2438400"/>
            <a:ext cx="885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STACKFUL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2838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21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独立调用栈</a:t>
            </a:r>
            <a:endParaRPr sz="21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3286125"/>
            <a:ext cx="398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0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挂起时保留栈片段；恢复像切换轻量线程</a:t>
            </a:r>
            <a:endParaRPr sz="1200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3790950"/>
            <a:ext cx="66675" cy="666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3695700"/>
            <a:ext cx="4143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可从深层调用点挂起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4114800"/>
            <a:ext cx="66675" cy="666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4019550"/>
            <a:ext cx="4143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调度与栈管理由 runtime 承担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4438650"/>
            <a:ext cx="66675" cy="666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09650" y="4343400"/>
            <a:ext cx="4143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代表：Go goroutine（工程体验接近线程）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stackless-panel"/>
          <p:cNvSpPr>
            <a:spLocks noGrp="1"/>
          </p:cNvSpPr>
          <p:nvPr/>
        </p:nvSpPr>
        <p:spPr>
          <a:xfrm>
            <a:off x="5981700" y="2143125"/>
            <a:ext cx="5448300" cy="282892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48400" y="2409825"/>
            <a:ext cx="110490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24600" y="24384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STACKLESS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283845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21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状态机 / 协程帧</a:t>
            </a:r>
            <a:endParaRPr sz="21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48400" y="3286125"/>
            <a:ext cx="4438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0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编译器围绕 await 保存局部变量与恢复点</a:t>
            </a:r>
            <a:endParaRPr sz="1200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48400" y="3790950"/>
            <a:ext cx="66675" cy="6667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38900" y="3695700"/>
            <a:ext cx="4562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对象较轻，挂起边界显式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48400" y="4114800"/>
            <a:ext cx="66675" cy="6667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438900" y="4019550"/>
            <a:ext cx="4562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执行器 / event loop 决定恢复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48400" y="4438650"/>
            <a:ext cx="66675" cy="6667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38900" y="4343400"/>
            <a:ext cx="4562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代表：C++20、Python asyncio、C# async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mechanism-summary"/>
          <p:cNvSpPr>
            <a:spLocks noGrp="1"/>
          </p:cNvSpPr>
          <p:nvPr/>
        </p:nvSpPr>
        <p:spPr>
          <a:xfrm>
            <a:off x="571500" y="5267325"/>
            <a:ext cx="10858500" cy="61912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0100" y="5476875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共同闭环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124075" y="5410200"/>
            <a:ext cx="849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遇到等待 -&gt; 保存状态 -&gt; 让出执行权 -&gt; 事件到达 -&gt; 恢复运行</a:t>
            </a:r>
            <a:endParaRPr sz="15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kicker-marker"/>
          <p:cNvSpPr>
            <a:spLocks noGrp="1"/>
          </p:cNvSpPr>
          <p:nvPr/>
        </p:nvSpPr>
        <p:spPr>
          <a:xfrm>
            <a:off x="533400" y="45720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35242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2 / 应用范式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visual-claim"/>
          <p:cNvSpPr>
            <a:spLocks noGrp="1"/>
          </p:cNvSpPr>
          <p:nvPr/>
        </p:nvSpPr>
        <p:spPr>
          <a:xfrm>
            <a:off x="533400" y="1943100"/>
            <a:ext cx="5286375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高并发 I/O 工作流，</a:t>
            </a:r>
            <a:endParaRPr sz="38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8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最适合用协程表达。</a:t>
            </a:r>
            <a:endParaRPr sz="38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visual-rule"/>
          <p:cNvSpPr>
            <a:spLocks noGrp="1"/>
          </p:cNvSpPr>
          <p:nvPr/>
        </p:nvSpPr>
        <p:spPr>
          <a:xfrm>
            <a:off x="533400" y="4210050"/>
            <a:ext cx="45720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visual-support"/>
          <p:cNvSpPr>
            <a:spLocks noGrp="1"/>
          </p:cNvSpPr>
          <p:nvPr/>
        </p:nvSpPr>
        <p:spPr>
          <a:xfrm>
            <a:off x="533400" y="4476750"/>
            <a:ext cx="495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0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25" b="0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服务器  /  API 聚合  /  数据库与缓存  /  消息队列  /  GUI 响应</a:t>
            </a:r>
            <a:endParaRPr sz="1425" b="0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visual-source"/>
          <p:cNvSpPr>
            <a:spLocks noGrp="1"/>
          </p:cNvSpPr>
          <p:nvPr/>
        </p:nvSpPr>
        <p:spPr>
          <a:xfrm>
            <a:off x="533400" y="6572250"/>
            <a:ext cx="7143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概念视觉：AI 生成，仅用于说明叙事；事实依据见相邻技术页。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visual-marker"/>
          <p:cNvSpPr>
            <a:spLocks noGrp="1"/>
          </p:cNvSpPr>
          <p:nvPr/>
        </p:nvSpPr>
        <p:spPr>
          <a:xfrm>
            <a:off x="10772775" y="6524625"/>
            <a:ext cx="885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06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2 / 应用边界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应用范式：I/O 等待交给协程，CPU 计算仍回到并行资源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来源：报告第 8 节；Python asyncio documentation；OpenJDK JEP 444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07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1025" y="1666875"/>
            <a:ext cx="2190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WORKLOAD ROUTING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io-lane"/>
          <p:cNvSpPr>
            <a:spLocks noGrp="1"/>
          </p:cNvSpPr>
          <p:nvPr/>
        </p:nvSpPr>
        <p:spPr>
          <a:xfrm>
            <a:off x="581025" y="2124075"/>
            <a:ext cx="5153025" cy="29813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381250"/>
            <a:ext cx="13906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409825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I/O WAIT DOMINANT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2886075"/>
            <a:ext cx="400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9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9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网络 / 数据库 / 定时器</a:t>
            </a:r>
            <a:endParaRPr sz="19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3337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任务经常等待外部事件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3914775"/>
            <a:ext cx="66675" cy="666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3829050"/>
            <a:ext cx="382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 / Python asyncio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305300"/>
            <a:ext cx="66675" cy="666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4219575"/>
            <a:ext cx="382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 thread / C# await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466725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选择：轻量挂起 + 超时/取消纪律</a:t>
            </a:r>
            <a:endParaRPr sz="12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cpu-lane"/>
          <p:cNvSpPr>
            <a:spLocks noGrp="1"/>
          </p:cNvSpPr>
          <p:nvPr/>
        </p:nvSpPr>
        <p:spPr>
          <a:xfrm>
            <a:off x="6019800" y="2124075"/>
            <a:ext cx="5410200" cy="298132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76975" y="2381250"/>
            <a:ext cx="119062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53175" y="2409825"/>
            <a:ext cx="1038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CPU DOMINANT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76975" y="2886075"/>
            <a:ext cx="439102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9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9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压缩 / 推理 / 数值计算</a:t>
            </a:r>
            <a:endParaRPr sz="19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76975" y="3333750"/>
            <a:ext cx="3476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任务持续占用计算资源</a:t>
            </a:r>
            <a:endParaRPr sz="12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76975" y="3914775"/>
            <a:ext cx="66675" cy="6667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448425" y="3829050"/>
            <a:ext cx="417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线程池 / 进程池 / SIMD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76975" y="4305300"/>
            <a:ext cx="66675" cy="6667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48425" y="4219575"/>
            <a:ext cx="417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GPU 或专门执行器</a:t>
            </a:r>
            <a:endParaRPr sz="127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76975" y="4667250"/>
            <a:ext cx="44862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选择：真实并行资源，而非堆协程</a:t>
            </a:r>
            <a:endParaRPr sz="127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1025" y="5524500"/>
            <a:ext cx="1084897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81025" y="572452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落地准则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809750" y="5667375"/>
            <a:ext cx="9544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I/O 异步边界清晰、可取消、可限流，协程才会把性能收益变成系统收益。</a:t>
            </a:r>
            <a:endParaRPr sz="15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3 / 语言支持对比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各语言差异的根本：谁保存状态，以及谁决定何时恢复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来源：报告表 2；Go FAQ / Python asyncio / OpenJDK JEP 444 / Microsoft Learn await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08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724025"/>
            <a:ext cx="1695450" cy="45720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1857375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平台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86000" y="1724025"/>
            <a:ext cx="1943100" cy="45720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409825" y="18573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抽象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48150" y="1724025"/>
            <a:ext cx="2533650" cy="45720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371975" y="1857375"/>
            <a:ext cx="2324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 / 调度者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00850" y="1724025"/>
            <a:ext cx="2809875" cy="45720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924675" y="1857375"/>
            <a:ext cx="26003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适配场景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29775" y="1724025"/>
            <a:ext cx="1752600" cy="45720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53600" y="1857375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风格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71500" y="2800350"/>
            <a:ext cx="1086802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95325" y="2371725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</a:t>
            </a:r>
            <a:endParaRPr sz="13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409825" y="236220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goroutine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71975" y="2362200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可增长栈 / Go runtime</a:t>
            </a:r>
            <a:endParaRPr sz="1050" b="1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924675" y="2362200"/>
            <a:ext cx="2600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网络服务、代理、基础设施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753600" y="236220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同步式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1500" y="3419475"/>
            <a:ext cx="1086802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95325" y="2990850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</a:t>
            </a:r>
            <a:endParaRPr sz="13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409825" y="2981325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asyncio Task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371975" y="2981325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协程对象 / event loop</a:t>
            </a:r>
            <a:endParaRPr sz="1050" b="1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924675" y="2981325"/>
            <a:ext cx="2600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API 聚合、爬虫、自动化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753600" y="2981325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显式异步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71500" y="4038600"/>
            <a:ext cx="1086802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5325" y="3609975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21</a:t>
            </a:r>
            <a:endParaRPr sz="13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409825" y="36004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virtual thread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371975" y="3600450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虚拟栈 / JDK scheduler</a:t>
            </a:r>
            <a:endParaRPr sz="1050" b="1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924675" y="3600450"/>
            <a:ext cx="2600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迁移阻塞式服务代码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753600" y="360045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同步式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71500" y="4657725"/>
            <a:ext cx="1086802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95325" y="4229100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C++20</a:t>
            </a:r>
            <a:endParaRPr sz="13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409825" y="4219575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co_await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371975" y="4219575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协程帧 / 库执行器</a:t>
            </a:r>
            <a:endParaRPr sz="1050" b="1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924675" y="4219575"/>
            <a:ext cx="2600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高性能系统、定制 runtime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753600" y="4219575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显式底层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71500" y="5276850"/>
            <a:ext cx="1086802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95325" y="4848225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C#</a:t>
            </a:r>
            <a:endParaRPr sz="13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409825" y="483870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Task + await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371975" y="4838700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状态机 / .NET runtime</a:t>
            </a:r>
            <a:endParaRPr sz="1050" b="1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924675" y="4838700"/>
            <a:ext cx="2600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服务端与 UI 异步流程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753600" y="483870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显式异步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71500" y="5562600"/>
            <a:ext cx="10858500" cy="37147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52475" y="5657850"/>
            <a:ext cx="1030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课程结论：不存在通用冠军；选型取决于异步边界是否显式、迁移成本与运行时约束。</a:t>
            </a:r>
            <a:endParaRPr sz="1125" b="1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4 / 编程实验设计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实验只测“等待管理”：20 ms sleep，而非 CPU 竞速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来源：报告第 5 节及表 3；高精度计时与 Max RSS 记录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09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7049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负载构造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experiment-stage-1"/>
          <p:cNvSpPr>
            <a:spLocks noGrp="1"/>
          </p:cNvSpPr>
          <p:nvPr/>
        </p:nvSpPr>
        <p:spPr>
          <a:xfrm>
            <a:off x="571500" y="2238375"/>
            <a:ext cx="1809750" cy="13525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2409825"/>
            <a:ext cx="91440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4384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 TASKS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2886075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1,000 主测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3,000 / 6,000 趋势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09825" y="2876550"/>
            <a:ext cx="19050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66975" y="2762250"/>
            <a:ext cx="152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4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experiment-stage-2"/>
          <p:cNvSpPr>
            <a:spLocks noGrp="1"/>
          </p:cNvSpPr>
          <p:nvPr/>
        </p:nvSpPr>
        <p:spPr>
          <a:xfrm>
            <a:off x="2676525" y="2238375"/>
            <a:ext cx="1809750" cy="13525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28925" y="2409825"/>
            <a:ext cx="91440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05125" y="24384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WAIT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28925" y="2886075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每任务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sleep 20 ms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14850" y="2876550"/>
            <a:ext cx="19050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72000" y="2762250"/>
            <a:ext cx="152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4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experiment-stage-3"/>
          <p:cNvSpPr>
            <a:spLocks noGrp="1"/>
          </p:cNvSpPr>
          <p:nvPr/>
        </p:nvSpPr>
        <p:spPr>
          <a:xfrm>
            <a:off x="4781550" y="2238375"/>
            <a:ext cx="1809750" cy="13525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33950" y="2409825"/>
            <a:ext cx="91440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010150" y="24384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MEASURE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33950" y="2886075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总耗时 +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Max RSS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19875" y="2876550"/>
            <a:ext cx="19050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677025" y="2762250"/>
            <a:ext cx="152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4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experiment-stage-4"/>
          <p:cNvSpPr>
            <a:spLocks noGrp="1"/>
          </p:cNvSpPr>
          <p:nvPr/>
        </p:nvSpPr>
        <p:spPr>
          <a:xfrm>
            <a:off x="6886575" y="2238375"/>
            <a:ext cx="1809750" cy="13525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038975" y="2409825"/>
            <a:ext cx="91440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115175" y="24384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COMPARE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38975" y="2886075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轻量任务 vs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200 线程池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controls-panel"/>
          <p:cNvSpPr>
            <a:spLocks noGrp="1"/>
          </p:cNvSpPr>
          <p:nvPr/>
        </p:nvSpPr>
        <p:spPr>
          <a:xfrm>
            <a:off x="9144000" y="1676400"/>
            <a:ext cx="2476500" cy="253365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353550" y="1885950"/>
            <a:ext cx="204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CONTROLLED VARIABLES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353550" y="23241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F5F3E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3.13.5</a:t>
            </a:r>
            <a:endParaRPr sz="1125" b="1">
              <a:solidFill>
                <a:srgbClr val="F5F3E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353550" y="2657475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F5F3E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Go 1.23.2</a:t>
            </a:r>
            <a:endParaRPr sz="1125" b="1">
              <a:solidFill>
                <a:srgbClr val="F5F3E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353550" y="29908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F5F3E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OpenJDK 21.0.10</a:t>
            </a:r>
            <a:endParaRPr sz="1125" b="1">
              <a:solidFill>
                <a:srgbClr val="F5F3E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353550" y="3352800"/>
            <a:ext cx="1981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53550" y="3533775"/>
            <a:ext cx="2028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平台线程池固定为 200</a:t>
            </a:r>
            <a:endParaRPr sz="1050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53550" y="38481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Linux x86_64 容器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71500" y="4495800"/>
            <a:ext cx="13335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为何这样设计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71500" y="4895850"/>
            <a:ext cx="10858500" cy="8953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00100" y="5095875"/>
            <a:ext cx="99536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如果把 CPU 计算塞进任务，测到的会是核心数量、JIT 或解释器差异，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而不是协程最关键的能力：在大量任务等待时，释放执行资源。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4 / 多线程性能对比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8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1000 个等待任务：轻量模型明显更接近 20 ms 下限</a:t>
            </a:r>
            <a:endParaRPr sz="28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来源：本地微基准，报告表 4；N=1000，每任务等待 20 ms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47825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平均完成时间 / LOWER IS BETTER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52675" y="19812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</a:t>
            </a:r>
            <a:endParaRPr sz="825" b="0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29125" y="198120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250</a:t>
            </a:r>
            <a:endParaRPr sz="825" b="0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24625" y="198120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500 ms</a:t>
            </a:r>
            <a:endParaRPr sz="825" b="0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62200" y="2171700"/>
            <a:ext cx="42481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76750" y="2171700"/>
            <a:ext cx="9525" cy="330517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10350" y="2171700"/>
            <a:ext cx="9525" cy="330517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71500" y="24193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2524125"/>
            <a:ext cx="424815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362200" y="2447925"/>
            <a:ext cx="217927" cy="1714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75377" y="240982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25.8 ms</a:t>
            </a:r>
            <a:endParaRPr sz="105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1500" y="294322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asyncio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62200" y="3048000"/>
            <a:ext cx="424815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362200" y="2971800"/>
            <a:ext cx="335223" cy="1714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792673" y="2933700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39.7 ms</a:t>
            </a:r>
            <a:endParaRPr sz="105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346710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 thread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362200" y="3571875"/>
            <a:ext cx="424815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362200" y="3495675"/>
            <a:ext cx="1610774" cy="17145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068224" y="345757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190.6 ms</a:t>
            </a:r>
            <a:endParaRPr sz="105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399097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ThreadPool(200)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362200" y="4095750"/>
            <a:ext cx="424815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362200" y="4019550"/>
            <a:ext cx="3072774" cy="17145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530224" y="3981450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363.6 ms</a:t>
            </a:r>
            <a:endParaRPr sz="1050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45148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platform pool(200)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62200" y="4619625"/>
            <a:ext cx="424815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362200" y="4543425"/>
            <a:ext cx="4248150" cy="17145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705600" y="450532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502.7 ms</a:t>
            </a:r>
            <a:endParaRPr sz="1050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finding-panel"/>
          <p:cNvSpPr>
            <a:spLocks noGrp="1"/>
          </p:cNvSpPr>
          <p:nvPr/>
        </p:nvSpPr>
        <p:spPr>
          <a:xfrm>
            <a:off x="7905750" y="1809750"/>
            <a:ext cx="3495675" cy="364807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53400" y="20574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READOUT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53400" y="24574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5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5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14.1x</a:t>
            </a:r>
            <a:endParaRPr sz="35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172450" y="3086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 相比</a:t>
            </a:r>
            <a:endParaRPr sz="15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平台线程池更快</a:t>
            </a:r>
            <a:endParaRPr sz="15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53400" y="3876675"/>
            <a:ext cx="26670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53400" y="4143375"/>
            <a:ext cx="17145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不要过度解读</a:t>
            </a:r>
            <a:endParaRPr sz="97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53400" y="4476750"/>
            <a:ext cx="2743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跨语言含启动和 runtime 成本；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此页证明的是等待管理趋势，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不是平台绝对性能榜。</a:t>
            </a:r>
            <a:endParaRPr sz="12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57200" y="1409700"/>
            <a:ext cx="11277600" cy="48768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71500" y="1581150"/>
            <a:ext cx="6648450" cy="4095750"/>
          </a:xfrm>
          <a:prstGeom prst="rect">
            <a:avLst/>
          </a:prstGeom>
          <a:solidFill>
            <a:srgbClr val="0D19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0100" y="1733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平均完成时间 / ms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514600" y="1724025"/>
            <a:ext cx="13525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590800" y="1752600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LOWER IS BETTER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611315" y="2095500"/>
            <a:ext cx="9525" cy="32194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2211265" y="18669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7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20 ms 下限</a:t>
            </a:r>
            <a:endParaRPr sz="75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99842" y="2095500"/>
            <a:ext cx="9525" cy="32194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199792" y="18669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750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250</a:t>
            </a:r>
            <a:endParaRPr sz="750" b="0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761285" y="2095500"/>
            <a:ext cx="9525" cy="32194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361235" y="18669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750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500</a:t>
            </a:r>
            <a:endParaRPr sz="750" b="0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42950" y="2114550"/>
            <a:ext cx="6305550" cy="419100"/>
          </a:xfrm>
          <a:prstGeom prst="rect">
            <a:avLst/>
          </a:prstGeom>
          <a:solidFill>
            <a:srgbClr val="0A15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00100" y="2200275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</a:t>
            </a:r>
            <a:endParaRPr sz="10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2438400" y="2266950"/>
            <a:ext cx="4495800" cy="123825"/>
          </a:xfrm>
          <a:prstGeom prst="rect">
            <a:avLst/>
          </a:prstGeom>
          <a:solidFill>
            <a:srgbClr val="16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2438400" y="2266950"/>
            <a:ext cx="223061" cy="12382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2623361" y="2228850"/>
            <a:ext cx="76200" cy="20002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794811" y="21812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25.8 ms</a:t>
            </a:r>
            <a:endParaRPr sz="97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019800" y="20193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1.3x 下限</a:t>
            </a:r>
            <a:endParaRPr sz="750" b="0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00100" y="27813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asyncio</a:t>
            </a:r>
            <a:endParaRPr sz="1050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2438400" y="2847975"/>
            <a:ext cx="4495800" cy="123825"/>
          </a:xfrm>
          <a:prstGeom prst="rect">
            <a:avLst/>
          </a:prstGeom>
          <a:solidFill>
            <a:srgbClr val="16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2438400" y="2847975"/>
            <a:ext cx="343237" cy="123825"/>
          </a:xfrm>
          <a:prstGeom prst="rect">
            <a:avLst/>
          </a:prstGeom>
          <a:solidFill>
            <a:srgbClr val="44D6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2743537" y="2809875"/>
            <a:ext cx="76200" cy="200025"/>
          </a:xfrm>
          <a:prstGeom prst="rect">
            <a:avLst/>
          </a:prstGeom>
          <a:solidFill>
            <a:srgbClr val="44D6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2914987" y="2762250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44D6B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44D6B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39.7 ms</a:t>
            </a:r>
            <a:endParaRPr sz="975" b="1">
              <a:solidFill>
                <a:srgbClr val="44D6B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019800" y="26003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44D6B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44D6B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2.0x 下限</a:t>
            </a:r>
            <a:endParaRPr sz="750" b="0">
              <a:solidFill>
                <a:srgbClr val="44D6B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42950" y="3276600"/>
            <a:ext cx="6305550" cy="419100"/>
          </a:xfrm>
          <a:prstGeom prst="rect">
            <a:avLst/>
          </a:prstGeom>
          <a:solidFill>
            <a:srgbClr val="0A15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800100" y="3362325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 thread</a:t>
            </a:r>
            <a:endParaRPr sz="1050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2438400" y="3429000"/>
            <a:ext cx="4495800" cy="123825"/>
          </a:xfrm>
          <a:prstGeom prst="rect">
            <a:avLst/>
          </a:prstGeom>
          <a:solidFill>
            <a:srgbClr val="16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2438400" y="3429000"/>
            <a:ext cx="1647884" cy="12382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4048184" y="3390900"/>
            <a:ext cx="76200" cy="20002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219634" y="33432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190.6 ms</a:t>
            </a:r>
            <a:endParaRPr sz="97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019800" y="318135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9.5x 下限</a:t>
            </a:r>
            <a:endParaRPr sz="750" b="0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00100" y="394335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ThreadPool(200)</a:t>
            </a:r>
            <a:endParaRPr sz="1050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2438400" y="4010025"/>
            <a:ext cx="4495800" cy="123825"/>
          </a:xfrm>
          <a:prstGeom prst="rect">
            <a:avLst/>
          </a:prstGeom>
          <a:solidFill>
            <a:srgbClr val="16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2438400" y="4010025"/>
            <a:ext cx="3143602" cy="123825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5543902" y="3971925"/>
            <a:ext cx="76200" cy="200025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715352" y="3924300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363.6 ms</a:t>
            </a:r>
            <a:endParaRPr sz="975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019800" y="376237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18.2x 下限</a:t>
            </a:r>
            <a:endParaRPr sz="750" b="0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42950" y="4438650"/>
            <a:ext cx="6305550" cy="419100"/>
          </a:xfrm>
          <a:prstGeom prst="rect">
            <a:avLst/>
          </a:prstGeom>
          <a:solidFill>
            <a:srgbClr val="0A15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800100" y="4524375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platform pool(200)</a:t>
            </a:r>
            <a:endParaRPr sz="1050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2438400" y="4591050"/>
            <a:ext cx="4495800" cy="123825"/>
          </a:xfrm>
          <a:prstGeom prst="rect">
            <a:avLst/>
          </a:prstGeom>
          <a:solidFill>
            <a:srgbClr val="16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2438400" y="4591050"/>
            <a:ext cx="4346228" cy="123825"/>
          </a:xfrm>
          <a:prstGeom prst="rect">
            <a:avLst/>
          </a:prstGeom>
          <a:solidFill>
            <a:srgbClr val="F06F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746528" y="4552950"/>
            <a:ext cx="76200" cy="200025"/>
          </a:xfrm>
          <a:prstGeom prst="rect">
            <a:avLst/>
          </a:prstGeom>
          <a:solidFill>
            <a:srgbClr val="F06F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6917978" y="45053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F06F6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06F6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502.7 ms</a:t>
            </a:r>
            <a:endParaRPr sz="975" b="1">
              <a:solidFill>
                <a:srgbClr val="F06F6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019800" y="43434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0">
                <a:solidFill>
                  <a:srgbClr val="F06F6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F06F6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25.1x 下限</a:t>
            </a:r>
            <a:endParaRPr sz="750" b="0">
              <a:solidFill>
                <a:srgbClr val="F06F6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7734300" y="1752600"/>
            <a:ext cx="3676650" cy="360045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7734300" y="1752600"/>
            <a:ext cx="3676650" cy="381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8115300" y="21145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READOUT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8115300" y="2571750"/>
            <a:ext cx="171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33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3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14.1x</a:t>
            </a:r>
            <a:endParaRPr sz="33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8115300" y="3181350"/>
            <a:ext cx="2362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 相比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平台线程池更快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8115300" y="3962400"/>
            <a:ext cx="27241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8115300" y="42291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怎么读这张图</a:t>
            </a:r>
            <a:endParaRPr sz="97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115300" y="4533900"/>
            <a:ext cx="276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20 ms 是每个任务 sleep 的理论下限；柱子越靠左，说明等待期间被线程和调度额外拖慢得越少。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906000" y="2495550"/>
            <a:ext cx="914400" cy="914400"/>
          </a:xfrm>
          <a:prstGeom prst="rect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077450" y="2771775"/>
            <a:ext cx="590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3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20ms</a:t>
            </a:r>
            <a:endParaRPr sz="135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floor</a:t>
            </a:r>
            <a:endParaRPr sz="135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4 / 扩展趋势与边界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7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任务数提升后轻量并发仍可扩展；RSS 不等于单任务开销</a:t>
            </a:r>
            <a:endParaRPr sz="27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来源：报告表 4-5；Max RSS 含语言 runtime 基础开销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11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16573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耗时随任务数增长 / ms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00300" y="1952625"/>
            <a:ext cx="101917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476500" y="1981200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1,000 TASKS</a:t>
            </a:r>
            <a:endParaRPr sz="825" b="1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62375" y="1952625"/>
            <a:ext cx="101917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38575" y="1981200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3,000 TASKS</a:t>
            </a:r>
            <a:endParaRPr sz="825" b="1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24450" y="1952625"/>
            <a:ext cx="101917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00650" y="1981200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A7B6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6,000 TASKS</a:t>
            </a:r>
            <a:endParaRPr sz="825" b="1">
              <a:solidFill>
                <a:srgbClr val="A7B6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0550" y="2324100"/>
            <a:ext cx="56007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90550" y="2609850"/>
            <a:ext cx="15621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00300" y="2647950"/>
            <a:ext cx="63243" cy="1524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00300" y="2876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25.8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62375" y="2647950"/>
            <a:ext cx="87009" cy="1524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762375" y="2876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35.5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24450" y="2647950"/>
            <a:ext cx="123038" cy="1524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24450" y="2876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50.2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90550" y="3438525"/>
            <a:ext cx="15621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asyncio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400300" y="3476625"/>
            <a:ext cx="97282" cy="1524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400300" y="37052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39.7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762375" y="3476625"/>
            <a:ext cx="167782" cy="1524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762375" y="37052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68.4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24450" y="3476625"/>
            <a:ext cx="313215" cy="1524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24450" y="37052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127.7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0550" y="4267200"/>
            <a:ext cx="15621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400300" y="4305300"/>
            <a:ext cx="467450" cy="152400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400300" y="45339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190.6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762375" y="4305300"/>
            <a:ext cx="647413" cy="152400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762375" y="45339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264.0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24450" y="4305300"/>
            <a:ext cx="1066160" cy="152400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24450" y="45339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434.7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memory-panel"/>
          <p:cNvSpPr>
            <a:spLocks noGrp="1"/>
          </p:cNvSpPr>
          <p:nvPr/>
        </p:nvSpPr>
        <p:spPr>
          <a:xfrm>
            <a:off x="6953250" y="1657350"/>
            <a:ext cx="4438650" cy="403860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219950" y="1924050"/>
            <a:ext cx="22860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 RSS @ 1,000 TASKS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219950" y="2409825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839200" y="2466975"/>
            <a:ext cx="36378" cy="1143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410825" y="240982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15.4 MB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219950" y="28575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asyncio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839200" y="2914650"/>
            <a:ext cx="669211" cy="1143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410825" y="28575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283.3 MB</a:t>
            </a:r>
            <a:endParaRPr sz="9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219950" y="3305175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839200" y="3362325"/>
            <a:ext cx="865746" cy="114300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410825" y="33051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366.5 MB</a:t>
            </a:r>
            <a:endParaRPr sz="900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219950" y="37528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platform pool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839200" y="3810000"/>
            <a:ext cx="1378344" cy="11430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410825" y="375285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583.5 MB</a:t>
            </a:r>
            <a:endParaRPr sz="900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219950" y="4200525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ThreadPool</a:t>
            </a:r>
            <a:endParaRPr sz="97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839200" y="4257675"/>
            <a:ext cx="1474958" cy="11430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410825" y="420052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624.4 MB</a:t>
            </a:r>
            <a:endParaRPr sz="900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219950" y="4762500"/>
            <a:ext cx="395287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219950" y="4972050"/>
            <a:ext cx="685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解释边界</a:t>
            </a:r>
            <a:endParaRPr sz="900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105775" y="4943475"/>
            <a:ext cx="30480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RSS 包含运行时底座；可说明线程池压力，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不等价于“每任务占用”比较。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57200" y="1409700"/>
            <a:ext cx="11277600" cy="48768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71500" y="1752600"/>
            <a:ext cx="5905500" cy="3790950"/>
          </a:xfrm>
          <a:prstGeom prst="rect">
            <a:avLst/>
          </a:prstGeom>
          <a:solidFill>
            <a:srgbClr val="0D19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20002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耗时随任务数增长 / ms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2305050" y="2266950"/>
            <a:ext cx="1104900" cy="228600"/>
          </a:xfrm>
          <a:prstGeom prst="rect">
            <a:avLst/>
          </a:prstGeom>
          <a:solidFill>
            <a:srgbClr val="172C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2400300" y="2314575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1,000 TASKS</a:t>
            </a:r>
            <a:endParaRPr sz="750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3676650" y="2266950"/>
            <a:ext cx="1104900" cy="228600"/>
          </a:xfrm>
          <a:prstGeom prst="rect">
            <a:avLst/>
          </a:prstGeom>
          <a:solidFill>
            <a:srgbClr val="172C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3771900" y="2314575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3,000 TASKS</a:t>
            </a:r>
            <a:endParaRPr sz="750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048250" y="2266950"/>
            <a:ext cx="1104900" cy="228600"/>
          </a:xfrm>
          <a:prstGeom prst="rect">
            <a:avLst/>
          </a:prstGeom>
          <a:solidFill>
            <a:srgbClr val="172C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5143500" y="2314575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75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6,000 TASKS</a:t>
            </a:r>
            <a:endParaRPr sz="750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19150" y="2647950"/>
            <a:ext cx="5410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42950" y="2819400"/>
            <a:ext cx="5562600" cy="666750"/>
          </a:xfrm>
          <a:prstGeom prst="rect">
            <a:avLst/>
          </a:prstGeom>
          <a:solidFill>
            <a:srgbClr val="0A15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19150" y="29718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381250" y="30289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381250" y="3028950"/>
            <a:ext cx="76200" cy="12382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2381250" y="32289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25.8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3752850" y="30289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752850" y="3028950"/>
            <a:ext cx="78147" cy="12382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3752850" y="32289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35.5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124450" y="30289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5124450" y="3028950"/>
            <a:ext cx="110507" cy="12382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124450" y="32289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50.2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5353050" y="2971800"/>
            <a:ext cx="819150" cy="238125"/>
          </a:xfrm>
          <a:prstGeom prst="rect">
            <a:avLst/>
          </a:prstGeom>
          <a:solidFill>
            <a:srgbClr val="122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5486400" y="30194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+24.4 ms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19150" y="38481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asyncio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2381250" y="39052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2381250" y="3905250"/>
            <a:ext cx="87393" cy="12382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2381250" y="41052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39.7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3752850" y="39052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3752850" y="3905250"/>
            <a:ext cx="150571" cy="12382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3752850" y="41052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68.4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5124450" y="39052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5124450" y="3905250"/>
            <a:ext cx="281110" cy="123825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5124450" y="41052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127.7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353050" y="3848100"/>
            <a:ext cx="819150" cy="238125"/>
          </a:xfrm>
          <a:prstGeom prst="rect">
            <a:avLst/>
          </a:prstGeom>
          <a:solidFill>
            <a:srgbClr val="122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5486400" y="3895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+88.0 ms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742950" y="4572000"/>
            <a:ext cx="5562600" cy="666750"/>
          </a:xfrm>
          <a:prstGeom prst="rect">
            <a:avLst/>
          </a:prstGeom>
          <a:solidFill>
            <a:srgbClr val="0A15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819150" y="47244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</a:t>
            </a:r>
            <a:endParaRPr sz="11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2381250" y="47815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2381250" y="4781550"/>
            <a:ext cx="419574" cy="123825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2381250" y="49815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190.6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3752850" y="47815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3752850" y="4781550"/>
            <a:ext cx="581152" cy="123825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3752850" y="49815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264.0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5124450" y="4781550"/>
            <a:ext cx="1009650" cy="123825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5124450" y="4781550"/>
            <a:ext cx="956920" cy="123825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5124450" y="49815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434.7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5353050" y="4724400"/>
            <a:ext cx="819150" cy="238125"/>
          </a:xfrm>
          <a:prstGeom prst="rect">
            <a:avLst/>
          </a:prstGeom>
          <a:solidFill>
            <a:srgbClr val="122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5486400" y="47720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+244.1 ms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6934200" y="1657350"/>
            <a:ext cx="4457700" cy="403860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6934200" y="1657350"/>
            <a:ext cx="4457700" cy="381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7200900" y="1962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 RSS @ 1,000 TASKS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200900" y="24288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 goroutine</a:t>
            </a:r>
            <a:endParaRPr sz="9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8591550" y="2476500"/>
            <a:ext cx="2038350" cy="114300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8591550" y="2476500"/>
            <a:ext cx="57150" cy="11430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10325100" y="24003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15.4 MB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7200900" y="28860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asyncio</a:t>
            </a:r>
            <a:endParaRPr sz="9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591550" y="2933700"/>
            <a:ext cx="2038350" cy="114300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8591550" y="2933700"/>
            <a:ext cx="888407" cy="11430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10325100" y="28575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283.3 MB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7200900" y="33432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virtual</a:t>
            </a:r>
            <a:endParaRPr sz="9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591550" y="3390900"/>
            <a:ext cx="2038350" cy="114300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8591550" y="3390900"/>
            <a:ext cx="1149316" cy="114300"/>
          </a:xfrm>
          <a:prstGeom prst="rect">
            <a:avLst/>
          </a:prstGeom>
          <a:solidFill>
            <a:srgbClr val="D9E1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10325100" y="33147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366.5 MB</a:t>
            </a:r>
            <a:endParaRPr sz="825" b="1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7200900" y="38004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platform pool</a:t>
            </a:r>
            <a:endParaRPr sz="9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8591550" y="3848100"/>
            <a:ext cx="2038350" cy="114300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8591550" y="3848100"/>
            <a:ext cx="1829811" cy="114300"/>
          </a:xfrm>
          <a:prstGeom prst="rect">
            <a:avLst/>
          </a:prstGeom>
          <a:solidFill>
            <a:srgbClr val="F07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10325100" y="3771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82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583.5 MB</a:t>
            </a:r>
            <a:endParaRPr sz="825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7200900" y="42576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ThreadPool</a:t>
            </a:r>
            <a:endParaRPr sz="90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8591550" y="4305300"/>
            <a:ext cx="2038350" cy="114300"/>
          </a:xfrm>
          <a:prstGeom prst="rect">
            <a:avLst/>
          </a:prstGeom>
          <a:solidFill>
            <a:srgbClr val="17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8591550" y="4305300"/>
            <a:ext cx="1958070" cy="114300"/>
          </a:xfrm>
          <a:prstGeom prst="rect">
            <a:avLst/>
          </a:prstGeom>
          <a:solidFill>
            <a:srgbClr val="F06F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10325100" y="42291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defRPr sz="825" b="1">
                <a:solidFill>
                  <a:srgbClr val="F06F6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06F6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624.4 MB</a:t>
            </a:r>
            <a:endParaRPr sz="825" b="1">
              <a:solidFill>
                <a:srgbClr val="F06F6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7200900" y="4800600"/>
            <a:ext cx="39243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7200900" y="50482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9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解释边界</a:t>
            </a:r>
            <a:endParaRPr sz="97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8096250" y="495300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RSS 包含运行时底座；可说明线程池压力，不能当作“每任务占用”直接比较。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问题 5 / 底层协同实现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编译器保存状态，运行时调度任务，操作系统通知 I/O 就绪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来源：报告第 3/7 节；Python asyncio docs；Go FAQ；OpenJDK JEP 444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12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stage-01"/>
          <p:cNvSpPr>
            <a:spLocks noGrp="1"/>
          </p:cNvSpPr>
          <p:nvPr/>
        </p:nvSpPr>
        <p:spPr>
          <a:xfrm>
            <a:off x="533400" y="1847850"/>
            <a:ext cx="2476500" cy="23336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19812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97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2860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源代码</a:t>
            </a:r>
            <a:endParaRPr sz="14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676525"/>
            <a:ext cx="2171700" cy="1362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async / await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suspend / go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表达可暂停流程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stage-02"/>
          <p:cNvSpPr>
            <a:spLocks noGrp="1"/>
          </p:cNvSpPr>
          <p:nvPr/>
        </p:nvSpPr>
        <p:spPr>
          <a:xfrm>
            <a:off x="3343275" y="1847850"/>
            <a:ext cx="2476500" cy="23336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95675" y="19812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97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95675" y="22860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状态保存</a:t>
            </a:r>
            <a:endParaRPr sz="14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95675" y="2676525"/>
            <a:ext cx="2171700" cy="1362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状态机 / 协程帧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continuation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保存局部变量与恢复点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stage-03"/>
          <p:cNvSpPr>
            <a:spLocks noGrp="1"/>
          </p:cNvSpPr>
          <p:nvPr/>
        </p:nvSpPr>
        <p:spPr>
          <a:xfrm>
            <a:off x="6153150" y="1847850"/>
            <a:ext cx="2476500" cy="23336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05550" y="19812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97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05550" y="22860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运行时调度</a:t>
            </a:r>
            <a:endParaRPr sz="14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2676525"/>
            <a:ext cx="2171700" cy="1362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Task / executor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定时器与取消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选择下一就绪任务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stage-04"/>
          <p:cNvSpPr>
            <a:spLocks noGrp="1"/>
          </p:cNvSpPr>
          <p:nvPr/>
        </p:nvSpPr>
        <p:spPr>
          <a:xfrm>
            <a:off x="8963025" y="1847850"/>
            <a:ext cx="2695575" cy="2333625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15425" y="19812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97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15425" y="2286000"/>
            <a:ext cx="23907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2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操作系统</a:t>
            </a:r>
            <a:endParaRPr sz="142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15425" y="2676525"/>
            <a:ext cx="2390775" cy="1362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epoll / IOCP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线程与系统调用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发出 I/O 就绪通知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095625" y="2962275"/>
            <a:ext cx="200025" cy="190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162300" y="2838450"/>
            <a:ext cx="1714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5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905500" y="2962275"/>
            <a:ext cx="200025" cy="19050"/>
          </a:xfrm>
          <a:prstGeom prst="rect">
            <a:avLst/>
          </a:prstGeom>
          <a:solidFill>
            <a:srgbClr val="F2B3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72175" y="2838450"/>
            <a:ext cx="1714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5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5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15375" y="2962275"/>
            <a:ext cx="200025" cy="19050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782050" y="2838450"/>
            <a:ext cx="1714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5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" name="resume-loop"/>
          <p:cNvSpPr>
            <a:spLocks noGrp="1"/>
          </p:cNvSpPr>
          <p:nvPr/>
        </p:nvSpPr>
        <p:spPr>
          <a:xfrm>
            <a:off x="533400" y="4591050"/>
            <a:ext cx="11125200" cy="1066800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479107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SUSPEND</a:t>
            </a:r>
            <a:endParaRPr sz="9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1050" y="5124450"/>
            <a:ext cx="2047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await 时释放执行权</a:t>
            </a:r>
            <a:endParaRPr sz="13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124200" y="5162550"/>
            <a:ext cx="4895850" cy="19050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105400" y="486727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I/O ready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67650" y="5019675"/>
            <a:ext cx="19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endParaRPr sz="15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20100" y="479107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RESUME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20100" y="5124450"/>
            <a:ext cx="2447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从 continuation 继续</a:t>
            </a:r>
            <a:endParaRPr sz="13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工程补充 / 风险治理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轻量调度降低等待成本，但不会替你解决资源治理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来源：报告第 8 节；OpenJDK JEP 444（JDK 21）与 JEP 491（JDK 24）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13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7145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RISK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24200" y="17145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FAILURE MODE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67550" y="17145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ENGINEERING RESPONSE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771775"/>
            <a:ext cx="107632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2286000"/>
            <a:ext cx="100012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23145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阻塞混入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24200" y="2276475"/>
            <a:ext cx="32004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在事件循环内调用同步阻塞库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67550" y="2276475"/>
            <a:ext cx="39433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异步客户端或受控 executor</a:t>
            </a:r>
            <a:endParaRPr sz="1275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3562350"/>
            <a:ext cx="107632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3076575"/>
            <a:ext cx="100012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310515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07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任务失控</a:t>
            </a:r>
            <a:endParaRPr sz="825" b="1">
              <a:solidFill>
                <a:srgbClr val="F07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24200" y="3067050"/>
            <a:ext cx="32004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goroutine 泄漏、取消未传播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067550" y="3067050"/>
            <a:ext cx="39433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0716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scope / timeout / backpressure</a:t>
            </a:r>
            <a:endParaRPr sz="1275" b="1">
              <a:solidFill>
                <a:srgbClr val="F0716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4352925"/>
            <a:ext cx="107632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3867150"/>
            <a:ext cx="1000125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38957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资源上限</a:t>
            </a:r>
            <a:endParaRPr sz="8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124200" y="3857625"/>
            <a:ext cx="32004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数据库连接仍是有限资源</a:t>
            </a:r>
            <a:endParaRPr sz="1275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67550" y="3857625"/>
            <a:ext cx="39433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2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信号量限流，不池化虚拟线程</a:t>
            </a:r>
            <a:endParaRPr sz="12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version-note"/>
          <p:cNvSpPr>
            <a:spLocks noGrp="1"/>
          </p:cNvSpPr>
          <p:nvPr/>
        </p:nvSpPr>
        <p:spPr>
          <a:xfrm>
            <a:off x="609600" y="4762500"/>
            <a:ext cx="10763250" cy="111442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38200" y="4972050"/>
            <a:ext cx="1676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JAVA VERSION NOTE</a:t>
            </a:r>
            <a:endParaRPr sz="900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8200" y="5276850"/>
            <a:ext cx="9620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3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本实验使用 Java 21；JDK 24 的 JEP 491 已消除 synchronized 导致的绝大多数虚拟线程 pinning。</a:t>
            </a:r>
            <a:endParaRPr sz="13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" y="5591175"/>
            <a:ext cx="97250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结论不变：虚拟线程优化等待可扩展性，但连接、CPU 与外部服务上限仍需治理。</a:t>
            </a:r>
            <a:endParaRPr sz="10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00050"/>
            <a:ext cx="171450" cy="28575"/>
          </a:xfrm>
          <a:prstGeom prst="rect">
            <a:avLst/>
          </a:prstGeom>
          <a:solidFill>
            <a:srgbClr val="37D6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800100" y="2952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0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结论 / 来源与披露</a:t>
            </a:r>
            <a:endParaRPr sz="90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claim-title"/>
          <p:cNvSpPr>
            <a:spLocks noGrp="1"/>
          </p:cNvSpPr>
          <p:nvPr/>
        </p:nvSpPr>
        <p:spPr>
          <a:xfrm>
            <a:off x="533400" y="628650"/>
            <a:ext cx="1076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00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最终问题：任务到底是在计算，还是在等待？</a:t>
            </a:r>
            <a:endParaRPr sz="300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line"/>
          <p:cNvSpPr>
            <a:spLocks noGrp="1"/>
          </p:cNvSpPr>
          <p:nvPr/>
        </p:nvSpPr>
        <p:spPr>
          <a:xfrm>
            <a:off x="533400" y="659130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750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来源：本报告综合结论；官方来源完整 URL 列于右侧</a:t>
            </a:r>
            <a:endParaRPr sz="750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1144250" y="65817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r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14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287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975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三条可带走的判断</a:t>
            </a:r>
            <a:endParaRPr sz="975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1336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14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2095500"/>
            <a:ext cx="11334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等待很多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52700" y="2133600"/>
            <a:ext cx="32956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协程 / 轻量线程能压低等待期间的线程成本。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2638425"/>
            <a:ext cx="528637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71500" y="2924175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14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00150" y="2886075"/>
            <a:ext cx="11334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计算很多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552700" y="2924175"/>
            <a:ext cx="32956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需要线程、进程、SIMD 或 GPU 的真实并行。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3429000"/>
            <a:ext cx="528637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37147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1425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00150" y="3676650"/>
            <a:ext cx="11334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650" b="1">
                <a:solidFill>
                  <a:srgbClr val="F5F3E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准备落地</a:t>
            </a:r>
            <a:endParaRPr sz="1650" b="1">
              <a:solidFill>
                <a:srgbClr val="F5F3E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552700" y="3714750"/>
            <a:ext cx="32956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A7B6B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先处理取消、限流、阻塞调用和观测性。</a:t>
            </a:r>
            <a:endParaRPr sz="1125" b="0">
              <a:solidFill>
                <a:srgbClr val="A7B6B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1500" y="4219575"/>
            <a:ext cx="5286375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ai-disclosure"/>
          <p:cNvSpPr>
            <a:spLocks noGrp="1"/>
          </p:cNvSpPr>
          <p:nvPr/>
        </p:nvSpPr>
        <p:spPr>
          <a:xfrm>
            <a:off x="571500" y="4762500"/>
            <a:ext cx="5286375" cy="1104900"/>
          </a:xfrm>
          <a:prstGeom prst="rect">
            <a:avLst/>
          </a:prstGeom>
          <a:solidFill>
            <a:srgbClr val="111D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981575"/>
            <a:ext cx="971550" cy="2190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50101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F2B3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AI 使用说明</a:t>
            </a:r>
            <a:endParaRPr sz="825" b="1">
              <a:solidFill>
                <a:srgbClr val="F2B3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0100" y="5334000"/>
            <a:ext cx="4695825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 用于资料梳理、图表组织和实验脚本辅助；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None/>
              <a:def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125" b="0">
                <a:solidFill>
                  <a:srgbClr val="D9E1D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关键事实回到官方文档核验，实验输出与结论由本人复核。</a:t>
            </a:r>
            <a:endParaRPr sz="1125" b="0">
              <a:solidFill>
                <a:srgbClr val="D9E1D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references"/>
          <p:cNvSpPr>
            <a:spLocks noGrp="1"/>
          </p:cNvSpPr>
          <p:nvPr/>
        </p:nvSpPr>
        <p:spPr>
          <a:xfrm>
            <a:off x="6419850" y="1609725"/>
            <a:ext cx="4972050" cy="4257675"/>
          </a:xfrm>
          <a:prstGeom prst="rect">
            <a:avLst/>
          </a:prstGeom>
          <a:solidFill>
            <a:srgbClr val="142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696075" y="18859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37D6A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VERIFIED SOURCES</a:t>
            </a:r>
            <a:endParaRPr sz="900" b="1">
              <a:solidFill>
                <a:srgbClr val="37D6A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96075" y="2324100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915275" y="2324100"/>
            <a:ext cx="3171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docs.python.org/3/library/asyncio.html</a:t>
            </a:r>
            <a:endParaRPr sz="975" b="0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96075" y="2686050"/>
            <a:ext cx="4324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96075" y="286702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Go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915275" y="2867025"/>
            <a:ext cx="3171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go.dev/doc/faq</a:t>
            </a:r>
            <a:endParaRPr sz="975" b="0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96075" y="3228975"/>
            <a:ext cx="4324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696075" y="3409950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Java 21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915275" y="3409950"/>
            <a:ext cx="3171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openjdk.org/jeps/444</a:t>
            </a:r>
            <a:endParaRPr sz="975" b="0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96075" y="3771900"/>
            <a:ext cx="4324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96075" y="395287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JDK 24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915275" y="3952875"/>
            <a:ext cx="3171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openjdk.org/jeps/491</a:t>
            </a:r>
            <a:endParaRPr sz="975" b="0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696075" y="4314825"/>
            <a:ext cx="4324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696075" y="4495800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37D6A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C#</a:t>
            </a:r>
            <a:endParaRPr sz="1050" b="1">
              <a:solidFill>
                <a:srgbClr val="37D6A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915275" y="4495800"/>
            <a:ext cx="3171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9E1D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learn.microsoft.com/.../operators/await</a:t>
            </a:r>
            <a:endParaRPr sz="975" b="0">
              <a:solidFill>
                <a:srgbClr val="D9E1D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696075" y="4857750"/>
            <a:ext cx="4324350" cy="9525"/>
          </a:xfrm>
          <a:prstGeom prst="rect">
            <a:avLst/>
          </a:prstGeom>
          <a:solidFill>
            <a:srgbClr val="2639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96075" y="5238750"/>
            <a:ext cx="41052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9525" anchor="ctr"/>
          <a:lstStyle/>
          <a:p>
            <a:pPr algn="l">
              <a:buNone/>
              <a:defRPr sz="105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050" b="1">
                <a:solidFill>
                  <a:srgbClr val="F2B35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完整调研内容与原始实验表见配套 DOCX 报告。</a:t>
            </a:r>
            <a:endParaRPr sz="1050" b="1">
              <a:solidFill>
                <a:srgbClr val="F2B35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4890</Words>
  <Application>WPS 演示</Application>
  <PresentationFormat>Converted Presentation</PresentationFormat>
  <Paragraphs>788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等线</vt:lpstr>
      <vt:lpstr>Consolas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starcraft  travel</cp:lastModifiedBy>
  <cp:revision>1</cp:revision>
  <dcterms:created xsi:type="dcterms:W3CDTF">2026-05-28T05:36:01Z</dcterms:created>
  <dcterms:modified xsi:type="dcterms:W3CDTF">2026-05-28T05:36:01Z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FCB49D108B37409F95D23CAC7D01C1CC_12</vt:lpwstr>
  </property>
  <property fmtid="{D5CDD505-2E9C-101B-9397-08002B2CF9AE}" pid="3" name="KSOProductBuildVer">
    <vt:lpwstr>2052-12.1.0.26375</vt:lpwstr>
  </property>
</Properties>
</file>