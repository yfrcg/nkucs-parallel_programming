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5715000" cy="9144000" type="screen16x10"/>
  <p:notesSz cx="6858000" cy="9144000"/>
  <p:defaultTextStyle>
    <a:defPPr>
      <a:defRPr lang="zh-CN"/>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22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cSld name="雨课堂试卷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D1822C-7403-4131-BD72-C5E056A27412}"/>
              </a:ext>
            </a:extLst>
          </p:cNvPr>
          <p:cNvSpPr>
            <a:spLocks noGrp="1"/>
          </p:cNvSpPr>
          <p:nvPr>
            <p:ph type="title" hasCustomPrompt="1"/>
          </p:nvPr>
        </p:nvSpPr>
        <p:spPr>
          <a:xfrm>
            <a:off x="285750" y="3810000"/>
            <a:ext cx="5143500" cy="1524000"/>
          </a:xfrm>
          <a:prstGeom prst="rect">
            <a:avLst/>
          </a:prstGeom>
        </p:spPr>
        <p:txBody>
          <a:bodyPr vert="horz" anchor="ctr" anchorCtr="1"/>
          <a:lstStyle>
            <a:lvl1pPr>
              <a:defRPr sz="2600"/>
            </a:lvl1pPr>
          </a:lstStyle>
          <a:p>
            <a:r>
              <a:rPr lang="zh-CN" altLang="en-US"/>
              <a:t>请填写试卷标题</a:t>
            </a:r>
          </a:p>
        </p:txBody>
      </p:sp>
    </p:spTree>
    <p:extLst>
      <p:ext uri="{BB962C8B-B14F-4D97-AF65-F5344CB8AC3E}">
        <p14:creationId xmlns:p14="http://schemas.microsoft.com/office/powerpoint/2010/main" val="196178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72622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5485242"/>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385763" rtl="0" eaLnBrk="1" latinLnBrk="0" hangingPunct="1">
        <a:lnSpc>
          <a:spcPct val="90000"/>
        </a:lnSpc>
        <a:spcBef>
          <a:spcPct val="0"/>
        </a:spcBef>
        <a:buNone/>
        <a:defRPr sz="1856" kern="1200">
          <a:solidFill>
            <a:schemeClr val="tx1"/>
          </a:solidFill>
          <a:latin typeface="+mj-lt"/>
          <a:ea typeface="+mj-ea"/>
          <a:cs typeface="+mj-cs"/>
        </a:defRPr>
      </a:lvl1pPr>
    </p:titleStyle>
    <p:bodyStyle>
      <a:lvl1pPr marL="96441" indent="-96441" algn="l" defTabSz="385763" rtl="0" eaLnBrk="1" latinLnBrk="0" hangingPunct="1">
        <a:lnSpc>
          <a:spcPct val="90000"/>
        </a:lnSpc>
        <a:spcBef>
          <a:spcPts val="422"/>
        </a:spcBef>
        <a:buFont typeface="Arial" panose="020B0604020202020204" pitchFamily="34" charset="0"/>
        <a:buChar char="•"/>
        <a:defRPr sz="1181" kern="1200">
          <a:solidFill>
            <a:schemeClr val="tx1"/>
          </a:solidFill>
          <a:latin typeface="+mn-lt"/>
          <a:ea typeface="+mn-ea"/>
          <a:cs typeface="+mn-cs"/>
        </a:defRPr>
      </a:lvl1pPr>
      <a:lvl2pPr marL="289322" indent="-96441" algn="l" defTabSz="385763" rtl="0" eaLnBrk="1" latinLnBrk="0" hangingPunct="1">
        <a:lnSpc>
          <a:spcPct val="90000"/>
        </a:lnSpc>
        <a:spcBef>
          <a:spcPts val="211"/>
        </a:spcBef>
        <a:buFont typeface="Arial" panose="020B0604020202020204" pitchFamily="34" charset="0"/>
        <a:buChar char="•"/>
        <a:defRPr sz="1013" kern="1200">
          <a:solidFill>
            <a:schemeClr val="tx1"/>
          </a:solidFill>
          <a:latin typeface="+mn-lt"/>
          <a:ea typeface="+mn-ea"/>
          <a:cs typeface="+mn-cs"/>
        </a:defRPr>
      </a:lvl2pPr>
      <a:lvl3pPr marL="482204" indent="-96441" algn="l" defTabSz="385763" rtl="0" eaLnBrk="1" latinLnBrk="0" hangingPunct="1">
        <a:lnSpc>
          <a:spcPct val="90000"/>
        </a:lnSpc>
        <a:spcBef>
          <a:spcPts val="211"/>
        </a:spcBef>
        <a:buFont typeface="Arial" panose="020B0604020202020204" pitchFamily="34" charset="0"/>
        <a:buChar char="•"/>
        <a:defRPr sz="844" kern="1200">
          <a:solidFill>
            <a:schemeClr val="tx1"/>
          </a:solidFill>
          <a:latin typeface="+mn-lt"/>
          <a:ea typeface="+mn-ea"/>
          <a:cs typeface="+mn-cs"/>
        </a:defRPr>
      </a:lvl3pPr>
      <a:lvl4pPr marL="675085"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4pPr>
      <a:lvl5pPr marL="867966"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zh-CN"/>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image" Target="../media/image1.tmp"/><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2.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7E69F9-6B9D-41C3-8482-4D5D712E257B}"/>
              </a:ext>
            </a:extLst>
          </p:cNvPr>
          <p:cNvSpPr>
            <a:spLocks noGrp="1"/>
          </p:cNvSpPr>
          <p:nvPr>
            <p:ph type="title"/>
          </p:nvPr>
        </p:nvSpPr>
        <p:spPr/>
        <p:txBody>
          <a:bodyPr/>
          <a:lstStyle/>
          <a:p>
            <a:pPr algn="ctr"/>
            <a:r>
              <a:rPr lang="en-US" altLang="zh-CN" dirty="0"/>
              <a:t>OT</a:t>
            </a:r>
            <a:br>
              <a:rPr lang="en-US" altLang="zh-CN" dirty="0"/>
            </a:br>
            <a:r>
              <a:rPr lang="zh-CN" altLang="en-US" dirty="0"/>
              <a:t>协程技术调研</a:t>
            </a:r>
          </a:p>
        </p:txBody>
      </p:sp>
      <p:sp>
        <p:nvSpPr>
          <p:cNvPr id="3" name="文本框 2">
            <a:extLst>
              <a:ext uri="{FF2B5EF4-FFF2-40B4-BE49-F238E27FC236}">
                <a16:creationId xmlns:a16="http://schemas.microsoft.com/office/drawing/2014/main" id="{42C1760D-74E7-48BB-9E02-82097326799D}"/>
              </a:ext>
            </a:extLst>
          </p:cNvPr>
          <p:cNvSpPr txBox="1"/>
          <p:nvPr>
            <p:custDataLst>
              <p:tags r:id="rId2"/>
            </p:custDataLst>
          </p:nvPr>
        </p:nvSpPr>
        <p:spPr>
          <a:xfrm>
            <a:off x="1841500" y="5842000"/>
            <a:ext cx="2032000" cy="50800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nchorCtr="1">
            <a:noAutofit/>
          </a:bodyPr>
          <a:lstStyle/>
          <a:p>
            <a:r>
              <a:rPr lang="zh-CN" altLang="en-US" sz="2000">
                <a:solidFill>
                  <a:srgbClr val="000000"/>
                </a:solidFill>
              </a:rPr>
              <a:t>总分</a:t>
            </a:r>
            <a:r>
              <a:rPr lang="en-US" altLang="zh-CN" sz="2000">
                <a:solidFill>
                  <a:srgbClr val="000000"/>
                </a:solidFill>
              </a:rPr>
              <a:t>: 4</a:t>
            </a:r>
            <a:endParaRPr lang="zh-CN" altLang="en-US" sz="2000">
              <a:solidFill>
                <a:srgbClr val="000000"/>
              </a:solidFill>
            </a:endParaRPr>
          </a:p>
        </p:txBody>
      </p:sp>
      <p:sp>
        <p:nvSpPr>
          <p:cNvPr id="4" name="文本框 3">
            <a:extLst>
              <a:ext uri="{FF2B5EF4-FFF2-40B4-BE49-F238E27FC236}">
                <a16:creationId xmlns:a16="http://schemas.microsoft.com/office/drawing/2014/main" id="{B0B5FE55-C2F3-4FF3-80DC-0AEF06A93098}"/>
              </a:ext>
            </a:extLst>
          </p:cNvPr>
          <p:cNvSpPr txBox="1"/>
          <p:nvPr/>
        </p:nvSpPr>
        <p:spPr>
          <a:xfrm>
            <a:off x="127000" y="7874000"/>
            <a:ext cx="5461000" cy="1016000"/>
          </a:xfrm>
          <a:prstGeom prst="rect">
            <a:avLst/>
          </a:prstGeom>
          <a:solidFill>
            <a:srgbClr val="FFFFFF"/>
          </a:solidFill>
          <a:ln w="12700">
            <a:solidFill>
              <a:schemeClr val="tx1"/>
            </a:solidFill>
          </a:ln>
        </p:spPr>
        <p:txBody>
          <a:bodyPr vert="horz" wrap="square" rtlCol="0" anchor="ctr">
            <a:noAutofit/>
          </a:bodyPr>
          <a:lstStyle/>
          <a:p>
            <a:r>
              <a:rPr lang="zh-CN" altLang="en-US" sz="2000">
                <a:solidFill>
                  <a:srgbClr val="FF0000"/>
                </a:solidFill>
              </a:rPr>
              <a:t>*此封面页请勿删除，删除后将无法上传至试卷库，添加菜单栏任意题型即可制作试卷。本提示将在上传时自动隐藏。</a:t>
            </a:r>
          </a:p>
        </p:txBody>
      </p:sp>
    </p:spTree>
    <p:custDataLst>
      <p:tags r:id="rId1"/>
    </p:custDataLst>
    <p:extLst>
      <p:ext uri="{BB962C8B-B14F-4D97-AF65-F5344CB8AC3E}">
        <p14:creationId xmlns:p14="http://schemas.microsoft.com/office/powerpoint/2010/main" val="12825557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EB4949F-D931-4B68-A33B-D26EE16EA9AA}"/>
              </a:ext>
            </a:extLst>
          </p:cNvPr>
          <p:cNvSpPr txBox="1"/>
          <p:nvPr>
            <p:custDataLst>
              <p:tags r:id="rId2"/>
            </p:custDataLst>
          </p:nvPr>
        </p:nvSpPr>
        <p:spPr>
          <a:xfrm>
            <a:off x="0" y="634999"/>
            <a:ext cx="5715000" cy="7572375"/>
          </a:xfrm>
          <a:prstGeom prst="rect">
            <a:avLst/>
          </a:prstGeom>
          <a:noFill/>
        </p:spPr>
        <p:txBody>
          <a:bodyPr vert="horz" wrap="square" rtlCol="0" anchor="t" anchorCtr="0">
            <a:noAutofit/>
          </a:bodyPr>
          <a:lstStyle/>
          <a:p>
            <a:pPr indent="228600" algn="just">
              <a:spcAft>
                <a:spcPts val="0"/>
              </a:spcAft>
            </a:pPr>
            <a:r>
              <a:rPr lang="zh-CN" altLang="en-US" sz="1400" kern="100" dirty="0">
                <a:latin typeface="等线" panose="02010600030101010101" pitchFamily="2" charset="-122"/>
                <a:cs typeface="Times New Roman" panose="02020603050405020304" pitchFamily="18" charset="0"/>
              </a:rPr>
              <a:t>随着云端服务并发度不断提高，协程（</a:t>
            </a:r>
            <a:r>
              <a:rPr lang="en-US" altLang="zh-CN" sz="1400" kern="100" dirty="0">
                <a:latin typeface="等线" panose="02010600030101010101" pitchFamily="2" charset="-122"/>
                <a:cs typeface="Times New Roman" panose="02020603050405020304" pitchFamily="18" charset="0"/>
              </a:rPr>
              <a:t>c</a:t>
            </a:r>
            <a:r>
              <a:rPr lang="en-US" altLang="zh-CN" dirty="0"/>
              <a:t>oroutine</a:t>
            </a:r>
            <a:r>
              <a:rPr lang="zh-CN" altLang="en-US" sz="1400" kern="100" dirty="0">
                <a:latin typeface="等线" panose="02010600030101010101" pitchFamily="2" charset="-122"/>
                <a:cs typeface="Times New Roman" panose="02020603050405020304" pitchFamily="18" charset="0"/>
              </a:rPr>
              <a:t>）技术应运而生。这是一种比线程更加轻量级的并发编程模型，你可以把它通俗地理解为“可暂停和恢复的函数”。它具有极轻量级、协作式调度、异步编程简单等特点，非常适合于</a:t>
            </a:r>
            <a:r>
              <a:rPr lang="en-US" altLang="zh-CN" sz="1400" kern="100" dirty="0">
                <a:latin typeface="等线" panose="02010600030101010101" pitchFamily="2" charset="-122"/>
                <a:cs typeface="Times New Roman" panose="02020603050405020304" pitchFamily="18" charset="0"/>
              </a:rPr>
              <a:t>I/O</a:t>
            </a:r>
            <a:r>
              <a:rPr lang="zh-CN" altLang="en-US" sz="1400" kern="100" dirty="0">
                <a:latin typeface="等线" panose="02010600030101010101" pitchFamily="2" charset="-122"/>
                <a:cs typeface="Times New Roman" panose="02020603050405020304" pitchFamily="18" charset="0"/>
              </a:rPr>
              <a:t>密集型。</a:t>
            </a:r>
            <a:r>
              <a:rPr lang="zh-CN" altLang="en-US" dirty="0"/>
              <a:t>主流编程语言都提供了对协程支持，例如</a:t>
            </a:r>
            <a:r>
              <a:rPr lang="en-US" altLang="zh-CN" dirty="0"/>
              <a:t>C++20</a:t>
            </a:r>
            <a:r>
              <a:rPr lang="zh-CN" altLang="en-US" dirty="0"/>
              <a:t>标准引入的协程底层机制、</a:t>
            </a:r>
            <a:r>
              <a:rPr lang="en-US" altLang="zh-CN" dirty="0"/>
              <a:t>Go</a:t>
            </a:r>
            <a:r>
              <a:rPr lang="zh-CN" altLang="en-US" dirty="0"/>
              <a:t>语言的</a:t>
            </a:r>
            <a:r>
              <a:rPr lang="en-US" altLang="zh-CN" dirty="0"/>
              <a:t>Goroutine</a:t>
            </a:r>
            <a:r>
              <a:rPr lang="zh-CN" altLang="en-US" dirty="0"/>
              <a:t>、</a:t>
            </a:r>
            <a:r>
              <a:rPr lang="en-US" altLang="zh-CN" dirty="0"/>
              <a:t>Python</a:t>
            </a:r>
            <a:r>
              <a:rPr lang="zh-CN" altLang="en-US" dirty="0"/>
              <a:t>的 </a:t>
            </a:r>
            <a:r>
              <a:rPr lang="en-US" altLang="zh-CN" dirty="0" err="1"/>
              <a:t>asyncio</a:t>
            </a:r>
            <a:r>
              <a:rPr lang="zh-CN" altLang="en-US" dirty="0"/>
              <a:t>、</a:t>
            </a:r>
            <a:r>
              <a:rPr lang="en-US" altLang="zh-CN" dirty="0"/>
              <a:t>C#</a:t>
            </a:r>
            <a:r>
              <a:rPr lang="zh-CN" altLang="en-US" dirty="0"/>
              <a:t>的</a:t>
            </a:r>
            <a:r>
              <a:rPr lang="en-US" altLang="zh-CN" dirty="0"/>
              <a:t>async/await</a:t>
            </a:r>
            <a:r>
              <a:rPr lang="zh-CN" altLang="en-US" dirty="0"/>
              <a:t>以及</a:t>
            </a:r>
            <a:r>
              <a:rPr lang="en-US" altLang="zh-CN" dirty="0"/>
              <a:t>Java 21</a:t>
            </a:r>
            <a:r>
              <a:rPr lang="zh-CN" altLang="en-US" dirty="0"/>
              <a:t>引入的虚拟线程等。</a:t>
            </a:r>
            <a:endParaRPr lang="en-US" altLang="zh-CN" sz="1400" kern="100" dirty="0">
              <a:latin typeface="等线" panose="02010600030101010101" pitchFamily="2" charset="-122"/>
              <a:cs typeface="Times New Roman" panose="02020603050405020304" pitchFamily="18" charset="0"/>
            </a:endParaRPr>
          </a:p>
          <a:p>
            <a:pPr indent="228600" algn="just">
              <a:spcAft>
                <a:spcPts val="0"/>
              </a:spcAft>
            </a:pPr>
            <a:r>
              <a:rPr lang="zh-CN" altLang="en-US" sz="1400" kern="100" dirty="0">
                <a:latin typeface="等线" panose="02010600030101010101" pitchFamily="2" charset="-122"/>
                <a:cs typeface="Times New Roman" panose="02020603050405020304" pitchFamily="18" charset="0"/>
              </a:rPr>
              <a:t>请对协程技术进行调研，内容包括（但不限于）：并发执行机制为什么一步步演进到协程；协程技术介绍、分析，包括其底层机制、应用范式等；编程语言对协程支持的介绍和对比；协程编程实验，包括与多线程的性能对比等；编程语言（编译器）、运行时关键、操作系统是如何协同，从底层实现协程机制的。</a:t>
            </a:r>
            <a:endParaRPr lang="en-US" altLang="zh-CN" sz="1400" kern="100" dirty="0">
              <a:latin typeface="等线" panose="02010600030101010101" pitchFamily="2" charset="-122"/>
              <a:cs typeface="Times New Roman" panose="02020603050405020304" pitchFamily="18" charset="0"/>
            </a:endParaRPr>
          </a:p>
          <a:p>
            <a:pPr indent="228600" algn="just">
              <a:spcAft>
                <a:spcPts val="0"/>
              </a:spcAft>
            </a:pPr>
            <a:r>
              <a:rPr lang="zh-CN" altLang="en-US" sz="1400" kern="100" dirty="0">
                <a:latin typeface="等线" panose="02010600030101010101" pitchFamily="2" charset="-122"/>
                <a:cs typeface="Times New Roman" panose="02020603050405020304" pitchFamily="18" charset="0"/>
              </a:rPr>
              <a:t>具体要求</a:t>
            </a:r>
            <a:r>
              <a:rPr lang="zh-CN" altLang="zh-CN" sz="1400" kern="100" dirty="0">
                <a:latin typeface="等线" panose="02010600030101010101" pitchFamily="2" charset="-122"/>
                <a:cs typeface="Times New Roman" panose="02020603050405020304" pitchFamily="18" charset="0"/>
              </a:rPr>
              <a:t>：</a:t>
            </a:r>
          </a:p>
          <a:p>
            <a:pPr marL="342900" lvl="0" indent="-342900" algn="just">
              <a:buFont typeface="Wingdings" panose="05000000000000000000" pitchFamily="2" charset="2"/>
              <a:buChar char=""/>
            </a:pPr>
            <a:r>
              <a:rPr lang="zh-CN" altLang="en-US" sz="1400" kern="100" dirty="0">
                <a:solidFill>
                  <a:prstClr val="black"/>
                </a:solidFill>
                <a:latin typeface="等线" panose="02010600030101010101" pitchFamily="2" charset="-122"/>
                <a:cs typeface="Times New Roman" panose="02020603050405020304" pitchFamily="18" charset="0"/>
              </a:rPr>
              <a:t>提交</a:t>
            </a:r>
            <a:r>
              <a:rPr lang="en-US" altLang="zh-CN" sz="1400" kern="100" dirty="0">
                <a:solidFill>
                  <a:prstClr val="black"/>
                </a:solidFill>
                <a:latin typeface="等线" panose="02010600030101010101" pitchFamily="2" charset="-122"/>
                <a:cs typeface="Times New Roman" panose="02020603050405020304" pitchFamily="18" charset="0"/>
              </a:rPr>
              <a:t>15</a:t>
            </a:r>
            <a:r>
              <a:rPr lang="zh-CN" altLang="en-US" sz="1400" kern="100" dirty="0">
                <a:solidFill>
                  <a:prstClr val="black"/>
                </a:solidFill>
                <a:latin typeface="等线" panose="02010600030101010101" pitchFamily="2" charset="-122"/>
                <a:cs typeface="Times New Roman" panose="02020603050405020304" pitchFamily="18" charset="0"/>
              </a:rPr>
              <a:t>分钟左右的</a:t>
            </a:r>
            <a:r>
              <a:rPr lang="en-US" altLang="zh-CN" sz="1400" kern="100" dirty="0">
                <a:solidFill>
                  <a:prstClr val="black"/>
                </a:solidFill>
                <a:latin typeface="等线" panose="02010600030101010101" pitchFamily="2" charset="-122"/>
                <a:cs typeface="Times New Roman" panose="02020603050405020304" pitchFamily="18" charset="0"/>
              </a:rPr>
              <a:t>Slides</a:t>
            </a:r>
            <a:r>
              <a:rPr lang="zh-CN" altLang="en-US" sz="1400" kern="100" dirty="0">
                <a:solidFill>
                  <a:prstClr val="black"/>
                </a:solidFill>
                <a:latin typeface="等线" panose="02010600030101010101" pitchFamily="2" charset="-122"/>
                <a:cs typeface="Times New Roman" panose="02020603050405020304" pitchFamily="18" charset="0"/>
              </a:rPr>
              <a:t>，清晰地展示调研结果</a:t>
            </a:r>
            <a:r>
              <a:rPr lang="zh-CN" altLang="en-US" sz="1400" kern="100" dirty="0">
                <a:latin typeface="等线" panose="02010600030101010101" pitchFamily="2" charset="-122"/>
                <a:cs typeface="Times New Roman" panose="02020603050405020304" pitchFamily="18" charset="0"/>
              </a:rPr>
              <a:t>。可配合提交</a:t>
            </a:r>
            <a:r>
              <a:rPr lang="en-US" altLang="zh-CN" sz="1400" kern="100" dirty="0">
                <a:latin typeface="等线" panose="02010600030101010101" pitchFamily="2" charset="-122"/>
                <a:cs typeface="Times New Roman" panose="02020603050405020304" pitchFamily="18" charset="0"/>
              </a:rPr>
              <a:t>pdf</a:t>
            </a:r>
            <a:r>
              <a:rPr lang="zh-CN" altLang="en-US" sz="1400" kern="100" dirty="0">
                <a:latin typeface="等线" panose="02010600030101010101" pitchFamily="2" charset="-122"/>
                <a:cs typeface="Times New Roman" panose="02020603050405020304" pitchFamily="18" charset="0"/>
              </a:rPr>
              <a:t>文档，展示完整调研结果，但非必选项。</a:t>
            </a:r>
            <a:endParaRPr lang="zh-CN" altLang="zh-CN" sz="1400" kern="100" dirty="0">
              <a:latin typeface="等线" panose="02010600030101010101" pitchFamily="2" charset="-122"/>
              <a:cs typeface="Times New Roman" panose="02020603050405020304" pitchFamily="18" charset="0"/>
            </a:endParaRPr>
          </a:p>
          <a:p>
            <a:pPr marL="342900" lvl="0" indent="-342900" algn="just">
              <a:spcAft>
                <a:spcPts val="0"/>
              </a:spcAft>
              <a:buFont typeface="Wingdings" panose="05000000000000000000" pitchFamily="2" charset="2"/>
              <a:buChar char=""/>
            </a:pPr>
            <a:r>
              <a:rPr lang="en-US" altLang="zh-CN" sz="1400" kern="100" dirty="0">
                <a:latin typeface="等线" panose="02010600030101010101" pitchFamily="2" charset="-122"/>
                <a:cs typeface="Times New Roman" panose="02020603050405020304" pitchFamily="18" charset="0"/>
              </a:rPr>
              <a:t>Slides</a:t>
            </a:r>
            <a:r>
              <a:rPr lang="zh-CN" altLang="en-US" sz="1400" kern="100" dirty="0">
                <a:latin typeface="等线" panose="02010600030101010101" pitchFamily="2" charset="-122"/>
                <a:cs typeface="Times New Roman" panose="02020603050405020304" pitchFamily="18" charset="0"/>
              </a:rPr>
              <a:t>应避免空泛而谈，不要通篇是摘取的文献中的定性描述，应该有自己的思考，有实验。不要长篇大论，用</a:t>
            </a:r>
            <a:r>
              <a:rPr lang="en-US" altLang="zh-CN" sz="1400" kern="100" dirty="0">
                <a:latin typeface="等线" panose="02010600030101010101" pitchFamily="2" charset="-122"/>
                <a:cs typeface="Times New Roman" panose="02020603050405020304" pitchFamily="18" charset="0"/>
              </a:rPr>
              <a:t>15</a:t>
            </a:r>
            <a:r>
              <a:rPr lang="zh-CN" altLang="en-US" sz="1400" kern="100" dirty="0">
                <a:latin typeface="等线" panose="02010600030101010101" pitchFamily="2" charset="-122"/>
                <a:cs typeface="Times New Roman" panose="02020603050405020304" pitchFamily="18" charset="0"/>
              </a:rPr>
              <a:t>分钟左右时间抓住核心要点讲清楚，力求让听众能抓住关键点、未来遇到类似的问题能知道如何去寻找解决方案。</a:t>
            </a:r>
            <a:endParaRPr lang="en-US" altLang="zh-CN" sz="1400" kern="100" dirty="0">
              <a:latin typeface="等线" panose="02010600030101010101" pitchFamily="2" charset="-122"/>
              <a:cs typeface="Times New Roman" panose="02020603050405020304" pitchFamily="18" charset="0"/>
            </a:endParaRPr>
          </a:p>
          <a:p>
            <a:pPr marL="342900" lvl="0" indent="-342900" algn="just">
              <a:spcAft>
                <a:spcPts val="0"/>
              </a:spcAft>
              <a:buFont typeface="Wingdings" panose="05000000000000000000" pitchFamily="2" charset="2"/>
              <a:buChar char=""/>
            </a:pPr>
            <a:r>
              <a:rPr lang="en-US" altLang="zh-CN" sz="1400" kern="100" dirty="0">
                <a:latin typeface="等线" panose="02010600030101010101" pitchFamily="2" charset="-122"/>
                <a:cs typeface="Times New Roman" panose="02020603050405020304" pitchFamily="18" charset="0"/>
              </a:rPr>
              <a:t>PPT</a:t>
            </a:r>
            <a:r>
              <a:rPr lang="zh-CN" altLang="en-US" sz="1400" kern="100" dirty="0">
                <a:latin typeface="等线" panose="02010600030101010101" pitchFamily="2" charset="-122"/>
                <a:cs typeface="Times New Roman" panose="02020603050405020304" pitchFamily="18" charset="0"/>
              </a:rPr>
              <a:t>的制作方面，要基于希望听者能吸收你讲的什么内容这一最终目标进行总体结构和内容的设计。文字简明、扼要，用项目符号等方式体现出层次逻辑，切忌大段拷贝原始素材文字。辅以图、表等更生动的形式帮助听者快速抓住你讲解的要点。字体、字号等格式要保持全篇统一。如文档撰写一样，尽量插入对象而非图片格式，只能图片格式的话，一定要清晰。实验结果制作成图、表格展示，不要用截图方式展示。</a:t>
            </a:r>
            <a:endParaRPr lang="en-US" altLang="zh-CN" sz="1400" kern="100" dirty="0">
              <a:latin typeface="等线" panose="02010600030101010101" pitchFamily="2" charset="-122"/>
              <a:cs typeface="Times New Roman" panose="02020603050405020304" pitchFamily="18" charset="0"/>
            </a:endParaRPr>
          </a:p>
          <a:p>
            <a:pPr marL="342900" lvl="0" indent="-342900" algn="just">
              <a:spcAft>
                <a:spcPts val="0"/>
              </a:spcAft>
              <a:buFont typeface="Wingdings" panose="05000000000000000000" pitchFamily="2" charset="2"/>
              <a:buChar char=""/>
            </a:pPr>
            <a:r>
              <a:rPr lang="zh-CN" altLang="en-US" sz="1400" kern="100" dirty="0">
                <a:latin typeface="等线" panose="02010600030101010101" pitchFamily="2" charset="-122"/>
                <a:cs typeface="Times New Roman" panose="02020603050405020304" pitchFamily="18" charset="0"/>
              </a:rPr>
              <a:t>可借助大语言模型更快地搜集素材，但</a:t>
            </a:r>
            <a:r>
              <a:rPr lang="en-US" altLang="zh-CN" sz="1400" kern="100" dirty="0">
                <a:latin typeface="等线" panose="02010600030101010101" pitchFamily="2" charset="-122"/>
                <a:cs typeface="Times New Roman" panose="02020603050405020304" pitchFamily="18" charset="0"/>
              </a:rPr>
              <a:t>Slides</a:t>
            </a:r>
            <a:r>
              <a:rPr lang="zh-CN" altLang="en-US" sz="1400" kern="100" dirty="0">
                <a:latin typeface="等线" panose="02010600030101010101" pitchFamily="2" charset="-122"/>
                <a:cs typeface="Times New Roman" panose="02020603050405020304" pitchFamily="18" charset="0"/>
              </a:rPr>
              <a:t>和文档要自己编写。附上如何使用</a:t>
            </a:r>
            <a:r>
              <a:rPr lang="en-US" altLang="zh-CN" sz="1400" kern="100" dirty="0">
                <a:latin typeface="等线" panose="02010600030101010101" pitchFamily="2" charset="-122"/>
                <a:cs typeface="Times New Roman" panose="02020603050405020304" pitchFamily="18" charset="0"/>
              </a:rPr>
              <a:t>AI</a:t>
            </a:r>
            <a:r>
              <a:rPr lang="zh-CN" altLang="en-US" sz="1400" kern="100">
                <a:latin typeface="等线" panose="02010600030101010101" pitchFamily="2" charset="-122"/>
                <a:cs typeface="Times New Roman" panose="02020603050405020304" pitchFamily="18" charset="0"/>
              </a:rPr>
              <a:t>的简要说明。</a:t>
            </a:r>
            <a:endParaRPr lang="zh-CN" altLang="zh-CN" sz="1400" kern="100" dirty="0">
              <a:latin typeface="等线" panose="02010600030101010101" pitchFamily="2" charset="-122"/>
              <a:cs typeface="Times New Roman" panose="02020603050405020304" pitchFamily="18" charset="0"/>
            </a:endParaRPr>
          </a:p>
          <a:p>
            <a:pPr marL="342900" lvl="0" indent="-342900" algn="just">
              <a:spcAft>
                <a:spcPts val="0"/>
              </a:spcAft>
              <a:buFont typeface="Wingdings" panose="05000000000000000000" pitchFamily="2" charset="2"/>
              <a:buChar char=""/>
            </a:pPr>
            <a:r>
              <a:rPr lang="zh-CN" altLang="en-US" sz="1400" kern="100" dirty="0">
                <a:latin typeface="等线" panose="02010600030101010101" pitchFamily="2" charset="-122"/>
                <a:cs typeface="Times New Roman" panose="02020603050405020304" pitchFamily="18" charset="0"/>
              </a:rPr>
              <a:t>两个班级挑选完成得最好的</a:t>
            </a:r>
            <a:r>
              <a:rPr lang="en-US" altLang="zh-CN" sz="1400" kern="100" dirty="0">
                <a:latin typeface="等线" panose="02010600030101010101" pitchFamily="2" charset="-122"/>
                <a:cs typeface="Times New Roman" panose="02020603050405020304" pitchFamily="18" charset="0"/>
              </a:rPr>
              <a:t>6</a:t>
            </a:r>
            <a:r>
              <a:rPr lang="zh-CN" altLang="en-US" sz="1400" kern="100" dirty="0">
                <a:latin typeface="等线" panose="02010600030101010101" pitchFamily="2" charset="-122"/>
                <a:cs typeface="Times New Roman" panose="02020603050405020304" pitchFamily="18" charset="0"/>
              </a:rPr>
              <a:t>人左右在最后一周实验课（</a:t>
            </a:r>
            <a:r>
              <a:rPr lang="en-US" altLang="zh-CN" sz="1400" kern="100" dirty="0">
                <a:latin typeface="等线" panose="02010600030101010101" pitchFamily="2" charset="-122"/>
                <a:cs typeface="Times New Roman" panose="02020603050405020304" pitchFamily="18" charset="0"/>
              </a:rPr>
              <a:t>6</a:t>
            </a:r>
            <a:r>
              <a:rPr lang="zh-CN" altLang="en-US" sz="1400" kern="100" dirty="0">
                <a:latin typeface="等线" panose="02010600030101010101" pitchFamily="2" charset="-122"/>
                <a:cs typeface="Times New Roman" panose="02020603050405020304" pitchFamily="18" charset="0"/>
              </a:rPr>
              <a:t>月</a:t>
            </a:r>
            <a:r>
              <a:rPr lang="en-US" altLang="zh-CN" sz="1400" kern="100" dirty="0">
                <a:latin typeface="等线" panose="02010600030101010101" pitchFamily="2" charset="-122"/>
                <a:cs typeface="Times New Roman" panose="02020603050405020304" pitchFamily="18" charset="0"/>
              </a:rPr>
              <a:t>12</a:t>
            </a:r>
            <a:r>
              <a:rPr lang="zh-CN" altLang="en-US" sz="1400" kern="100" dirty="0">
                <a:latin typeface="等线" panose="02010600030101010101" pitchFamily="2" charset="-122"/>
                <a:cs typeface="Times New Roman" panose="02020603050405020304" pitchFamily="18" charset="0"/>
              </a:rPr>
              <a:t>日）统一做课堂报告，被选中的同学还要做一些练习，力求好的报告效果。</a:t>
            </a:r>
            <a:endParaRPr lang="zh-CN" altLang="zh-CN" sz="1400" kern="100" dirty="0">
              <a:latin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3BAAD9DE-EB78-4700-A73F-C2061EC1FF9A}"/>
              </a:ext>
            </a:extLst>
          </p:cNvPr>
          <p:cNvSpPr/>
          <p:nvPr>
            <p:custDataLst>
              <p:tags r:id="rId3"/>
            </p:custDataLst>
          </p:nvPr>
        </p:nvSpPr>
        <p:spPr>
          <a:xfrm>
            <a:off x="0" y="8270875"/>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2" name="矩形 11" hidden="1">
            <a:extLst>
              <a:ext uri="{FF2B5EF4-FFF2-40B4-BE49-F238E27FC236}">
                <a16:creationId xmlns:a16="http://schemas.microsoft.com/office/drawing/2014/main" id="{7A532EE4-4327-46BD-BB9E-53F7E23F9151}"/>
              </a:ext>
            </a:extLst>
          </p:cNvPr>
          <p:cNvSpPr/>
          <p:nvPr>
            <p:custDataLst>
              <p:tags r:id="rId4"/>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7" name="文本框 16" hidden="1">
            <a:extLst>
              <a:ext uri="{FF2B5EF4-FFF2-40B4-BE49-F238E27FC236}">
                <a16:creationId xmlns:a16="http://schemas.microsoft.com/office/drawing/2014/main" id="{1DC77BFC-C8B6-4964-B43B-DCB46B4513E9}"/>
              </a:ext>
            </a:extLst>
          </p:cNvPr>
          <p:cNvSpPr txBox="1"/>
          <p:nvPr>
            <p:custDataLst>
              <p:tags r:id="rId5"/>
            </p:custDataLst>
          </p:nvPr>
        </p:nvSpPr>
        <p:spPr>
          <a:xfrm>
            <a:off x="6184900" y="8413419"/>
            <a:ext cx="494284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8" name="文本框 17" hidden="1">
            <a:extLst>
              <a:ext uri="{FF2B5EF4-FFF2-40B4-BE49-F238E27FC236}">
                <a16:creationId xmlns:a16="http://schemas.microsoft.com/office/drawing/2014/main" id="{2F3BA613-906C-4F7E-9545-5B4E18EE5932}"/>
              </a:ext>
            </a:extLst>
          </p:cNvPr>
          <p:cNvSpPr txBox="1"/>
          <p:nvPr>
            <p:custDataLst>
              <p:tags r:id="rId6"/>
            </p:custDataLst>
          </p:nvPr>
        </p:nvSpPr>
        <p:spPr>
          <a:xfrm>
            <a:off x="6350000" y="1270000"/>
            <a:ext cx="4612640" cy="1905000"/>
          </a:xfrm>
          <a:prstGeom prst="rect">
            <a:avLst/>
          </a:prstGeom>
          <a:noFill/>
        </p:spPr>
        <p:txBody>
          <a:bodyPr vert="horz" rtlCol="0" anchor="t" anchorCtr="0">
            <a:spAutoFit/>
          </a:bodyPr>
          <a:lstStyle/>
          <a:p>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此处添加答案解析</a:t>
            </a:r>
          </a:p>
        </p:txBody>
      </p:sp>
      <p:grpSp>
        <p:nvGrpSpPr>
          <p:cNvPr id="16" name="组合 15" hidden="1">
            <a:extLst>
              <a:ext uri="{FF2B5EF4-FFF2-40B4-BE49-F238E27FC236}">
                <a16:creationId xmlns:a16="http://schemas.microsoft.com/office/drawing/2014/main" id="{8094A5E6-38E2-421E-9349-DAD6344CA4F6}"/>
              </a:ext>
            </a:extLst>
          </p:cNvPr>
          <p:cNvGrpSpPr/>
          <p:nvPr>
            <p:custDataLst>
              <p:tags r:id="rId7"/>
            </p:custDataLst>
          </p:nvPr>
        </p:nvGrpSpPr>
        <p:grpSpPr>
          <a:xfrm>
            <a:off x="6108700" y="0"/>
            <a:ext cx="5095240" cy="647700"/>
            <a:chOff x="6108700" y="0"/>
            <a:chExt cx="5095240" cy="647700"/>
          </a:xfrm>
        </p:grpSpPr>
        <p:sp>
          <p:nvSpPr>
            <p:cNvPr id="13" name="RemarkBack" hidden="1">
              <a:extLst>
                <a:ext uri="{FF2B5EF4-FFF2-40B4-BE49-F238E27FC236}">
                  <a16:creationId xmlns:a16="http://schemas.microsoft.com/office/drawing/2014/main" id="{E151523A-162A-4DC7-8B3A-4E8646C6824D}"/>
                </a:ext>
              </a:extLst>
            </p:cNvPr>
            <p:cNvSpPr/>
            <p:nvPr>
              <p:custDataLst>
                <p:tags r:id="rId14"/>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Block" hidden="1">
              <a:extLst>
                <a:ext uri="{FF2B5EF4-FFF2-40B4-BE49-F238E27FC236}">
                  <a16:creationId xmlns:a16="http://schemas.microsoft.com/office/drawing/2014/main" id="{46CB9BE8-ABF5-476E-AEF1-0A391167ED50}"/>
                </a:ext>
              </a:extLst>
            </p:cNvPr>
            <p:cNvSpPr/>
            <p:nvPr>
              <p:custDataLst>
                <p:tags r:id="rId15"/>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TitleText" hidden="1">
              <a:extLst>
                <a:ext uri="{FF2B5EF4-FFF2-40B4-BE49-F238E27FC236}">
                  <a16:creationId xmlns:a16="http://schemas.microsoft.com/office/drawing/2014/main" id="{DE3F1CD5-B80D-44A8-9477-23D015EAB726}"/>
                </a:ext>
              </a:extLst>
            </p:cNvPr>
            <p:cNvSpPr txBox="1"/>
            <p:nvPr>
              <p:custDataLst>
                <p:tags r:id="rId16"/>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grpSp>
        <p:nvGrpSpPr>
          <p:cNvPr id="10" name="组合 9">
            <a:extLst>
              <a:ext uri="{FF2B5EF4-FFF2-40B4-BE49-F238E27FC236}">
                <a16:creationId xmlns:a16="http://schemas.microsoft.com/office/drawing/2014/main" id="{DDF90F35-0C7F-426F-8EAB-71862230F6D9}"/>
              </a:ext>
            </a:extLst>
          </p:cNvPr>
          <p:cNvGrpSpPr/>
          <p:nvPr>
            <p:custDataLst>
              <p:tags r:id="rId8"/>
            </p:custDataLst>
          </p:nvPr>
        </p:nvGrpSpPr>
        <p:grpSpPr>
          <a:xfrm>
            <a:off x="0" y="0"/>
            <a:ext cx="5715000" cy="635000"/>
            <a:chOff x="0" y="0"/>
            <a:chExt cx="5715000" cy="635000"/>
          </a:xfrm>
        </p:grpSpPr>
        <p:sp>
          <p:nvSpPr>
            <p:cNvPr id="6" name="TitleBackground">
              <a:extLst>
                <a:ext uri="{FF2B5EF4-FFF2-40B4-BE49-F238E27FC236}">
                  <a16:creationId xmlns:a16="http://schemas.microsoft.com/office/drawing/2014/main" id="{DF222A90-94AC-4E86-8347-C91EF71E85A7}"/>
                </a:ext>
              </a:extLst>
            </p:cNvPr>
            <p:cNvSpPr/>
            <p:nvPr>
              <p:custDataLst>
                <p:tags r:id="rId10"/>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0ADDDE70-69FC-43F6-8995-F5149CF5ECB1}"/>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BFBDE1A9-C343-4924-BF9E-8B9BE6BF2BD8}"/>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400DF923-22EE-45B8-B11F-B69D1BBF1255}"/>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8EC1FD1B-47AE-4EDD-A64E-A87102C7E234}"/>
              </a:ext>
            </a:extLst>
          </p:cNvPr>
          <p:cNvPicPr>
            <a:picLocks/>
          </p:cNvPicPr>
          <p:nvPr>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026194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APER" val="PaperTitle"/>
</p:tagLst>
</file>

<file path=ppt/tags/tag2.xml><?xml version="1.0" encoding="utf-8"?>
<p:tagLst xmlns:a="http://schemas.openxmlformats.org/drawingml/2006/main" xmlns:r="http://schemas.openxmlformats.org/officeDocument/2006/relationships" xmlns:p="http://schemas.openxmlformats.org/presentationml/2006/main">
  <p:tag name="RAINPAPER" val="PaperScore"/>
</p:tagLst>
</file>

<file path=ppt/tags/tag3.xml><?xml version="1.0" encoding="utf-8"?>
<p:tagLst xmlns:a="http://schemas.openxmlformats.org/drawingml/2006/main" xmlns:r="http://schemas.openxmlformats.org/officeDocument/2006/relationships" xmlns:p="http://schemas.openxmlformats.org/presentationml/2006/main">
  <p:tag name="RAINPROBLEM" val="ShortAnswer"/>
  <p:tag name="PROBLEMHASREMARK" val="False"/>
  <p:tag name="PROBLEMSCORE" val="4.0"/>
  <p:tag name="PROBLEMVOICEALLOWED" val="False"/>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574</Words>
  <Application>Microsoft Office PowerPoint</Application>
  <PresentationFormat>全屏显示(16:10)</PresentationFormat>
  <Paragraphs>17</Paragraphs>
  <Slides>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Microsoft Yahei</vt:lpstr>
      <vt:lpstr>等线</vt:lpstr>
      <vt:lpstr>等线 Light</vt:lpstr>
      <vt:lpstr>Arial</vt:lpstr>
      <vt:lpstr>Times New Roman</vt:lpstr>
      <vt:lpstr>Wingdings</vt:lpstr>
      <vt:lpstr>Office 主题​​</vt:lpstr>
      <vt:lpstr>OT 协程技术调研</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预备工作2 定义你的编译器功能 &amp; 汇编编程</dc:title>
  <dc:creator>王 刚</dc:creator>
  <cp:lastModifiedBy>Administrator</cp:lastModifiedBy>
  <cp:revision>31</cp:revision>
  <dcterms:created xsi:type="dcterms:W3CDTF">2019-09-29T04:07:54Z</dcterms:created>
  <dcterms:modified xsi:type="dcterms:W3CDTF">2026-05-14T01:25:49Z</dcterms:modified>
</cp:coreProperties>
</file>